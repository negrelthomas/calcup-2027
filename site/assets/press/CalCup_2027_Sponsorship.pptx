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A43"/>
        </a:solidFill>
      </p:bgPr>
    </p:bg>
    <p:spTree>
      <p:nvGrpSpPr>
        <p:cNvPr id="1" name=""/>
        <p:cNvGrpSpPr/>
        <p:nvPr/>
      </p:nvGrpSpPr>
      <p:grpSpPr>
        <a:xfrm>
          <a:off x="0" y="0"/>
          <a:ext cx="0" cy="0"/>
          <a:chOff x="0" y="0"/>
          <a:chExt cx="0" cy="0"/>
        </a:xfrm>
      </p:grpSpPr>
      <p:pic>
        <p:nvPicPr>
          <p:cNvPr id="2" name="Image 0" descr="/tmp/p5.jpg">    </p:cNvPr>
          <p:cNvPicPr>
            <a:picLocks noChangeAspect="1"/>
          </p:cNvPicPr>
          <p:nvPr/>
        </p:nvPicPr>
        <p:blipFill>
          <a:blip r:embed="rId1"/>
          <a:srcRect l="0" r="0" t="0" b="0"/>
          <a:stretch/>
        </p:blipFill>
        <p:spPr>
          <a:xfrm>
            <a:off x="0" y="0"/>
            <a:ext cx="12188952" cy="6858000"/>
          </a:xfrm>
          <a:prstGeom prst="rect">
            <a:avLst/>
          </a:prstGeom>
        </p:spPr>
      </p:pic>
      <p:sp>
        <p:nvSpPr>
          <p:cNvPr id="3" name="Shape 0"/>
          <p:cNvSpPr/>
          <p:nvPr/>
        </p:nvSpPr>
        <p:spPr>
          <a:xfrm>
            <a:off x="0" y="0"/>
            <a:ext cx="12188952" cy="6858000"/>
          </a:xfrm>
          <a:prstGeom prst="rect">
            <a:avLst/>
          </a:prstGeom>
          <a:solidFill>
            <a:srgbClr val="102A43">
              <a:alpha val="74000"/>
            </a:srgbClr>
          </a:solidFill>
          <a:ln/>
        </p:spPr>
      </p:sp>
      <p:sp>
        <p:nvSpPr>
          <p:cNvPr id="4" name="Shape 1"/>
          <p:cNvSpPr/>
          <p:nvPr/>
        </p:nvSpPr>
        <p:spPr>
          <a:xfrm>
            <a:off x="0" y="3657600"/>
            <a:ext cx="12188952" cy="3200400"/>
          </a:xfrm>
          <a:prstGeom prst="rect">
            <a:avLst/>
          </a:prstGeom>
          <a:solidFill>
            <a:srgbClr val="102A43">
              <a:alpha val="88000"/>
            </a:srgbClr>
          </a:solidFill>
          <a:ln/>
        </p:spPr>
      </p:sp>
      <p:pic>
        <p:nvPicPr>
          <p:cNvPr id="5" name="Image 1" descr="/tmp/calheat.png">    </p:cNvPr>
          <p:cNvPicPr>
            <a:picLocks noChangeAspect="1"/>
          </p:cNvPicPr>
          <p:nvPr/>
        </p:nvPicPr>
        <p:blipFill>
          <a:blip r:embed="rId2"/>
          <a:stretch>
            <a:fillRect/>
          </a:stretch>
        </p:blipFill>
        <p:spPr>
          <a:xfrm>
            <a:off x="548640" y="502920"/>
            <a:ext cx="1143000" cy="1143000"/>
          </a:xfrm>
          <a:prstGeom prst="rect">
            <a:avLst/>
          </a:prstGeom>
        </p:spPr>
      </p:pic>
      <p:sp>
        <p:nvSpPr>
          <p:cNvPr id="6" name="Text 2"/>
          <p:cNvSpPr/>
          <p:nvPr/>
        </p:nvSpPr>
        <p:spPr>
          <a:xfrm>
            <a:off x="548640" y="2880360"/>
            <a:ext cx="9144000" cy="320040"/>
          </a:xfrm>
          <a:prstGeom prst="rect">
            <a:avLst/>
          </a:prstGeom>
          <a:noFill/>
          <a:ln/>
        </p:spPr>
        <p:txBody>
          <a:bodyPr wrap="square" rtlCol="0" anchor="ctr"/>
          <a:lstStyle/>
          <a:p>
            <a:pPr indent="0" marL="0">
              <a:buNone/>
            </a:pPr>
            <a:r>
              <a:rPr lang="en-US" sz="1400" b="1" spc="200" kern="0" dirty="0">
                <a:solidFill>
                  <a:srgbClr val="CFE0F0"/>
                </a:solidFill>
                <a:latin typeface="Calibri" pitchFamily="34" charset="0"/>
                <a:ea typeface="Calibri" pitchFamily="34" charset="-122"/>
                <a:cs typeface="Calibri" pitchFamily="34" charset="-120"/>
              </a:rPr>
              <a:t>SAN FRANCISCO CALHEAT PRESENTS</a:t>
            </a:r>
            <a:endParaRPr lang="en-US" sz="1400" dirty="0"/>
          </a:p>
        </p:txBody>
      </p:sp>
      <p:pic>
        <p:nvPicPr>
          <p:cNvPr id="7" name="Image 2" descr="/tmp/wm_dark.png">    </p:cNvPr>
          <p:cNvPicPr>
            <a:picLocks noChangeAspect="1"/>
          </p:cNvPicPr>
          <p:nvPr/>
        </p:nvPicPr>
        <p:blipFill>
          <a:blip r:embed="rId3"/>
          <a:stretch>
            <a:fillRect/>
          </a:stretch>
        </p:blipFill>
        <p:spPr>
          <a:xfrm>
            <a:off x="502920" y="3200400"/>
            <a:ext cx="6949440" cy="1600200"/>
          </a:xfrm>
          <a:prstGeom prst="rect">
            <a:avLst/>
          </a:prstGeom>
        </p:spPr>
      </p:pic>
      <p:sp>
        <p:nvSpPr>
          <p:cNvPr id="8" name="Text 3"/>
          <p:cNvSpPr/>
          <p:nvPr/>
        </p:nvSpPr>
        <p:spPr>
          <a:xfrm>
            <a:off x="548640" y="4892040"/>
            <a:ext cx="10058400" cy="457200"/>
          </a:xfrm>
          <a:prstGeom prst="rect">
            <a:avLst/>
          </a:prstGeom>
          <a:noFill/>
          <a:ln/>
        </p:spPr>
        <p:txBody>
          <a:bodyPr wrap="square" rtlCol="0" anchor="ctr"/>
          <a:lstStyle/>
          <a:p>
            <a:pPr indent="0" marL="0">
              <a:buNone/>
            </a:pPr>
            <a:r>
              <a:rPr lang="en-US" sz="2200" i="1" dirty="0">
                <a:solidFill>
                  <a:srgbClr val="FFFFFF"/>
                </a:solidFill>
                <a:latin typeface="Cambria" pitchFamily="34" charset="0"/>
                <a:ea typeface="Cambria" pitchFamily="34" charset="-122"/>
                <a:cs typeface="Cambria" pitchFamily="34" charset="-120"/>
              </a:rPr>
              <a:t>Partnership Opportunities · 20th Edition</a:t>
            </a:r>
            <a:endParaRPr lang="en-US" sz="2200" dirty="0"/>
          </a:p>
        </p:txBody>
      </p:sp>
      <p:sp>
        <p:nvSpPr>
          <p:cNvPr id="9" name="Text 4"/>
          <p:cNvSpPr/>
          <p:nvPr/>
        </p:nvSpPr>
        <p:spPr>
          <a:xfrm>
            <a:off x="548640" y="5440680"/>
            <a:ext cx="10972800" cy="365760"/>
          </a:xfrm>
          <a:prstGeom prst="rect">
            <a:avLst/>
          </a:prstGeom>
          <a:noFill/>
          <a:ln/>
        </p:spPr>
        <p:txBody>
          <a:bodyPr wrap="square" rtlCol="0" anchor="ctr"/>
          <a:lstStyle/>
          <a:p>
            <a:pPr indent="0" marL="0">
              <a:buNone/>
            </a:pPr>
            <a:r>
              <a:rPr lang="en-US" sz="1500" dirty="0">
                <a:solidFill>
                  <a:srgbClr val="CFE0F0"/>
                </a:solidFill>
                <a:latin typeface="Calibri" pitchFamily="34" charset="0"/>
                <a:ea typeface="Calibri" pitchFamily="34" charset="-122"/>
                <a:cs typeface="Calibri" pitchFamily="34" charset="-120"/>
              </a:rPr>
              <a:t>January 29 – February 1, 2027   ·   Fremont, California   ·   Streamed nationwide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A"/>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rtlCol="0" anchor="ctr"/>
          <a:lstStyle/>
          <a:p>
            <a:pPr indent="0" marL="0">
              <a:buNone/>
            </a:pPr>
            <a:r>
              <a:rPr lang="en-US" sz="1200" b="1" spc="200" kern="0" dirty="0">
                <a:solidFill>
                  <a:srgbClr val="F47920"/>
                </a:solidFill>
                <a:latin typeface="Calibri" pitchFamily="34" charset="0"/>
                <a:ea typeface="Calibri" pitchFamily="34" charset="-122"/>
                <a:cs typeface="Calibri" pitchFamily="34" charset="-120"/>
              </a:rPr>
              <a:t>THE EVENT</a:t>
            </a:r>
            <a:endParaRPr lang="en-US" sz="1200" dirty="0"/>
          </a:p>
        </p:txBody>
      </p:sp>
      <p:sp>
        <p:nvSpPr>
          <p:cNvPr id="3" name="Text 1"/>
          <p:cNvSpPr/>
          <p:nvPr/>
        </p:nvSpPr>
        <p:spPr>
          <a:xfrm>
            <a:off x="548640" y="749808"/>
            <a:ext cx="10881360" cy="731520"/>
          </a:xfrm>
          <a:prstGeom prst="rect">
            <a:avLst/>
          </a:prstGeom>
          <a:noFill/>
          <a:ln/>
        </p:spPr>
        <p:txBody>
          <a:bodyPr wrap="square" rtlCol="0" anchor="ctr"/>
          <a:lstStyle/>
          <a:p>
            <a:pPr indent="0" marL="0">
              <a:buNone/>
            </a:pPr>
            <a:r>
              <a:rPr lang="en-US" sz="3200" b="1" dirty="0">
                <a:solidFill>
                  <a:srgbClr val="102A43"/>
                </a:solidFill>
                <a:latin typeface="Cambria" pitchFamily="34" charset="0"/>
                <a:ea typeface="Cambria" pitchFamily="34" charset="-122"/>
                <a:cs typeface="Cambria" pitchFamily="34" charset="-120"/>
              </a:rPr>
              <a:t>The nation’s longest-running handball tournament</a:t>
            </a:r>
            <a:endParaRPr lang="en-US" sz="3200" dirty="0"/>
          </a:p>
        </p:txBody>
      </p:sp>
      <p:sp>
        <p:nvSpPr>
          <p:cNvPr id="4" name="Text 2"/>
          <p:cNvSpPr/>
          <p:nvPr/>
        </p:nvSpPr>
        <p:spPr>
          <a:xfrm>
            <a:off x="548640" y="1554480"/>
            <a:ext cx="6126480" cy="2011680"/>
          </a:xfrm>
          <a:prstGeom prst="rect">
            <a:avLst/>
          </a:prstGeom>
          <a:noFill/>
          <a:ln/>
        </p:spPr>
        <p:txBody>
          <a:bodyPr wrap="square" rtlCol="0" anchor="t"/>
          <a:lstStyle/>
          <a:p>
            <a:pPr indent="0" marL="0">
              <a:lnSpc>
                <a:spcPct val="115000"/>
              </a:lnSpc>
              <a:buNone/>
            </a:pPr>
            <a:r>
              <a:rPr lang="en-US" sz="1500" dirty="0">
                <a:solidFill>
                  <a:srgbClr val="1C2B3A"/>
                </a:solidFill>
                <a:latin typeface="Calibri" pitchFamily="34" charset="0"/>
                <a:ea typeface="Calibri" pitchFamily="34" charset="-122"/>
                <a:cs typeface="Calibri" pitchFamily="34" charset="-120"/>
              </a:rPr>
              <a:t>Since 2007, the California Cup has brought together elite men’s and women’s club teams from across the U.S., Canada and beyond. Now in its 20th edition, CalCup is hosted by San Francisco CalHeat — a Bay Area club and 501(c)(3) nonprofit — and streamed nationwide across three days of competition.</a:t>
            </a:r>
            <a:endParaRPr lang="en-US" sz="1500" dirty="0"/>
          </a:p>
        </p:txBody>
      </p:sp>
      <p:sp>
        <p:nvSpPr>
          <p:cNvPr id="5" name="Shape 3"/>
          <p:cNvSpPr/>
          <p:nvPr/>
        </p:nvSpPr>
        <p:spPr>
          <a:xfrm>
            <a:off x="548640" y="3566160"/>
            <a:ext cx="2971800" cy="1188720"/>
          </a:xfrm>
          <a:prstGeom prst="roundRect">
            <a:avLst>
              <a:gd name="adj" fmla="val 6154"/>
            </a:avLst>
          </a:prstGeom>
          <a:solidFill>
            <a:srgbClr val="FFFFFF"/>
          </a:solidFill>
          <a:ln w="12700">
            <a:solidFill>
              <a:srgbClr val="E3E8ED"/>
            </a:solidFill>
            <a:prstDash val="solid"/>
          </a:ln>
          <a:effectLst>
            <a:outerShdw sx="100000" sy="100000" kx="0" ky="0" algn="bl" rotWithShape="0" blurRad="114300" dist="38100" dir="5400000">
              <a:srgbClr val="000000">
                <a:alpha val="16000"/>
              </a:srgbClr>
            </a:outerShdw>
          </a:effectLst>
        </p:spPr>
      </p:sp>
      <p:sp>
        <p:nvSpPr>
          <p:cNvPr id="6" name="Text 4"/>
          <p:cNvSpPr/>
          <p:nvPr/>
        </p:nvSpPr>
        <p:spPr>
          <a:xfrm>
            <a:off x="685800" y="3694176"/>
            <a:ext cx="2697480" cy="640080"/>
          </a:xfrm>
          <a:prstGeom prst="rect">
            <a:avLst/>
          </a:prstGeom>
          <a:noFill/>
          <a:ln/>
        </p:spPr>
        <p:txBody>
          <a:bodyPr wrap="square" rtlCol="0" anchor="ctr"/>
          <a:lstStyle/>
          <a:p>
            <a:pPr algn="l" indent="0" marL="0">
              <a:buNone/>
            </a:pPr>
            <a:r>
              <a:rPr lang="en-US" sz="3800" b="1" dirty="0">
                <a:solidFill>
                  <a:srgbClr val="102A43"/>
                </a:solidFill>
                <a:latin typeface="Cambria" pitchFamily="34" charset="0"/>
                <a:ea typeface="Cambria" pitchFamily="34" charset="-122"/>
                <a:cs typeface="Cambria" pitchFamily="34" charset="-120"/>
              </a:rPr>
              <a:t>20</a:t>
            </a:r>
            <a:endParaRPr lang="en-US" sz="3800" dirty="0"/>
          </a:p>
        </p:txBody>
      </p:sp>
      <p:sp>
        <p:nvSpPr>
          <p:cNvPr id="7" name="Text 5"/>
          <p:cNvSpPr/>
          <p:nvPr/>
        </p:nvSpPr>
        <p:spPr>
          <a:xfrm>
            <a:off x="704088" y="4389120"/>
            <a:ext cx="2697480" cy="320040"/>
          </a:xfrm>
          <a:prstGeom prst="rect">
            <a:avLst/>
          </a:prstGeom>
          <a:noFill/>
          <a:ln/>
        </p:spPr>
        <p:txBody>
          <a:bodyPr wrap="square" rtlCol="0" anchor="ctr"/>
          <a:lstStyle/>
          <a:p>
            <a:pPr algn="l" indent="0" marL="0">
              <a:buNone/>
            </a:pPr>
            <a:r>
              <a:rPr lang="en-US" sz="1250" dirty="0">
                <a:solidFill>
                  <a:srgbClr val="5B6B7B"/>
                </a:solidFill>
                <a:latin typeface="Calibri" pitchFamily="34" charset="0"/>
                <a:ea typeface="Calibri" pitchFamily="34" charset="-122"/>
                <a:cs typeface="Calibri" pitchFamily="34" charset="-120"/>
              </a:rPr>
              <a:t>Years running</a:t>
            </a:r>
            <a:endParaRPr lang="en-US" sz="1250" dirty="0"/>
          </a:p>
        </p:txBody>
      </p:sp>
      <p:sp>
        <p:nvSpPr>
          <p:cNvPr id="8" name="Shape 6"/>
          <p:cNvSpPr/>
          <p:nvPr/>
        </p:nvSpPr>
        <p:spPr>
          <a:xfrm>
            <a:off x="3685032" y="3566160"/>
            <a:ext cx="2971800" cy="1188720"/>
          </a:xfrm>
          <a:prstGeom prst="roundRect">
            <a:avLst>
              <a:gd name="adj" fmla="val 6154"/>
            </a:avLst>
          </a:prstGeom>
          <a:solidFill>
            <a:srgbClr val="FFFFFF"/>
          </a:solidFill>
          <a:ln w="12700">
            <a:solidFill>
              <a:srgbClr val="E3E8ED"/>
            </a:solidFill>
            <a:prstDash val="solid"/>
          </a:ln>
          <a:effectLst>
            <a:outerShdw sx="100000" sy="100000" kx="0" ky="0" algn="bl" rotWithShape="0" blurRad="114300" dist="38100" dir="5400000">
              <a:srgbClr val="000000">
                <a:alpha val="16000"/>
              </a:srgbClr>
            </a:outerShdw>
          </a:effectLst>
        </p:spPr>
      </p:sp>
      <p:sp>
        <p:nvSpPr>
          <p:cNvPr id="9" name="Text 7"/>
          <p:cNvSpPr/>
          <p:nvPr/>
        </p:nvSpPr>
        <p:spPr>
          <a:xfrm>
            <a:off x="3822192" y="3694176"/>
            <a:ext cx="2697480" cy="640080"/>
          </a:xfrm>
          <a:prstGeom prst="rect">
            <a:avLst/>
          </a:prstGeom>
          <a:noFill/>
          <a:ln/>
        </p:spPr>
        <p:txBody>
          <a:bodyPr wrap="square" rtlCol="0" anchor="ctr"/>
          <a:lstStyle/>
          <a:p>
            <a:pPr algn="l" indent="0" marL="0">
              <a:buNone/>
            </a:pPr>
            <a:r>
              <a:rPr lang="en-US" sz="3800" b="1" dirty="0">
                <a:solidFill>
                  <a:srgbClr val="102A43"/>
                </a:solidFill>
                <a:latin typeface="Cambria" pitchFamily="34" charset="0"/>
                <a:ea typeface="Cambria" pitchFamily="34" charset="-122"/>
                <a:cs typeface="Cambria" pitchFamily="34" charset="-120"/>
              </a:rPr>
              <a:t>~200</a:t>
            </a:r>
            <a:endParaRPr lang="en-US" sz="3800" dirty="0"/>
          </a:p>
        </p:txBody>
      </p:sp>
      <p:sp>
        <p:nvSpPr>
          <p:cNvPr id="10" name="Text 8"/>
          <p:cNvSpPr/>
          <p:nvPr/>
        </p:nvSpPr>
        <p:spPr>
          <a:xfrm>
            <a:off x="3840480" y="4389120"/>
            <a:ext cx="2697480" cy="320040"/>
          </a:xfrm>
          <a:prstGeom prst="rect">
            <a:avLst/>
          </a:prstGeom>
          <a:noFill/>
          <a:ln/>
        </p:spPr>
        <p:txBody>
          <a:bodyPr wrap="square" rtlCol="0" anchor="ctr"/>
          <a:lstStyle/>
          <a:p>
            <a:pPr algn="l" indent="0" marL="0">
              <a:buNone/>
            </a:pPr>
            <a:r>
              <a:rPr lang="en-US" sz="1250" dirty="0">
                <a:solidFill>
                  <a:srgbClr val="5B6B7B"/>
                </a:solidFill>
                <a:latin typeface="Calibri" pitchFamily="34" charset="0"/>
                <a:ea typeface="Calibri" pitchFamily="34" charset="-122"/>
                <a:cs typeface="Calibri" pitchFamily="34" charset="-120"/>
              </a:rPr>
              <a:t>Athletes / year</a:t>
            </a:r>
            <a:endParaRPr lang="en-US" sz="1250" dirty="0"/>
          </a:p>
        </p:txBody>
      </p:sp>
      <p:sp>
        <p:nvSpPr>
          <p:cNvPr id="11" name="Shape 9"/>
          <p:cNvSpPr/>
          <p:nvPr/>
        </p:nvSpPr>
        <p:spPr>
          <a:xfrm>
            <a:off x="548640" y="4919472"/>
            <a:ext cx="2971800" cy="1188720"/>
          </a:xfrm>
          <a:prstGeom prst="roundRect">
            <a:avLst>
              <a:gd name="adj" fmla="val 6154"/>
            </a:avLst>
          </a:prstGeom>
          <a:solidFill>
            <a:srgbClr val="FFFFFF"/>
          </a:solidFill>
          <a:ln w="12700">
            <a:solidFill>
              <a:srgbClr val="E3E8ED"/>
            </a:solidFill>
            <a:prstDash val="solid"/>
          </a:ln>
          <a:effectLst>
            <a:outerShdw sx="100000" sy="100000" kx="0" ky="0" algn="bl" rotWithShape="0" blurRad="114300" dist="38100" dir="5400000">
              <a:srgbClr val="000000">
                <a:alpha val="16000"/>
              </a:srgbClr>
            </a:outerShdw>
          </a:effectLst>
        </p:spPr>
      </p:sp>
      <p:sp>
        <p:nvSpPr>
          <p:cNvPr id="12" name="Text 10"/>
          <p:cNvSpPr/>
          <p:nvPr/>
        </p:nvSpPr>
        <p:spPr>
          <a:xfrm>
            <a:off x="685800" y="5047488"/>
            <a:ext cx="2697480" cy="640080"/>
          </a:xfrm>
          <a:prstGeom prst="rect">
            <a:avLst/>
          </a:prstGeom>
          <a:noFill/>
          <a:ln/>
        </p:spPr>
        <p:txBody>
          <a:bodyPr wrap="square" rtlCol="0" anchor="ctr"/>
          <a:lstStyle/>
          <a:p>
            <a:pPr algn="l" indent="0" marL="0">
              <a:buNone/>
            </a:pPr>
            <a:r>
              <a:rPr lang="en-US" sz="3800" b="1" dirty="0">
                <a:solidFill>
                  <a:srgbClr val="102A43"/>
                </a:solidFill>
                <a:latin typeface="Cambria" pitchFamily="34" charset="0"/>
                <a:ea typeface="Cambria" pitchFamily="34" charset="-122"/>
                <a:cs typeface="Cambria" pitchFamily="34" charset="-120"/>
              </a:rPr>
              <a:t>13</a:t>
            </a:r>
            <a:endParaRPr lang="en-US" sz="3800" dirty="0"/>
          </a:p>
        </p:txBody>
      </p:sp>
      <p:sp>
        <p:nvSpPr>
          <p:cNvPr id="13" name="Text 11"/>
          <p:cNvSpPr/>
          <p:nvPr/>
        </p:nvSpPr>
        <p:spPr>
          <a:xfrm>
            <a:off x="704088" y="5742432"/>
            <a:ext cx="2697480" cy="320040"/>
          </a:xfrm>
          <a:prstGeom prst="rect">
            <a:avLst/>
          </a:prstGeom>
          <a:noFill/>
          <a:ln/>
        </p:spPr>
        <p:txBody>
          <a:bodyPr wrap="square" rtlCol="0" anchor="ctr"/>
          <a:lstStyle/>
          <a:p>
            <a:pPr algn="l" indent="0" marL="0">
              <a:buNone/>
            </a:pPr>
            <a:r>
              <a:rPr lang="en-US" sz="1250" dirty="0">
                <a:solidFill>
                  <a:srgbClr val="5B6B7B"/>
                </a:solidFill>
                <a:latin typeface="Calibri" pitchFamily="34" charset="0"/>
                <a:ea typeface="Calibri" pitchFamily="34" charset="-122"/>
                <a:cs typeface="Calibri" pitchFamily="34" charset="-120"/>
              </a:rPr>
              <a:t>Elite clubs</a:t>
            </a:r>
            <a:endParaRPr lang="en-US" sz="1250" dirty="0"/>
          </a:p>
        </p:txBody>
      </p:sp>
      <p:sp>
        <p:nvSpPr>
          <p:cNvPr id="14" name="Shape 12"/>
          <p:cNvSpPr/>
          <p:nvPr/>
        </p:nvSpPr>
        <p:spPr>
          <a:xfrm>
            <a:off x="3685032" y="4919472"/>
            <a:ext cx="2971800" cy="1188720"/>
          </a:xfrm>
          <a:prstGeom prst="roundRect">
            <a:avLst>
              <a:gd name="adj" fmla="val 6154"/>
            </a:avLst>
          </a:prstGeom>
          <a:solidFill>
            <a:srgbClr val="FFFFFF"/>
          </a:solidFill>
          <a:ln w="12700">
            <a:solidFill>
              <a:srgbClr val="E3E8ED"/>
            </a:solidFill>
            <a:prstDash val="solid"/>
          </a:ln>
          <a:effectLst>
            <a:outerShdw sx="100000" sy="100000" kx="0" ky="0" algn="bl" rotWithShape="0" blurRad="114300" dist="38100" dir="5400000">
              <a:srgbClr val="000000">
                <a:alpha val="16000"/>
              </a:srgbClr>
            </a:outerShdw>
          </a:effectLst>
        </p:spPr>
      </p:sp>
      <p:sp>
        <p:nvSpPr>
          <p:cNvPr id="15" name="Text 13"/>
          <p:cNvSpPr/>
          <p:nvPr/>
        </p:nvSpPr>
        <p:spPr>
          <a:xfrm>
            <a:off x="3822192" y="5047488"/>
            <a:ext cx="2697480" cy="640080"/>
          </a:xfrm>
          <a:prstGeom prst="rect">
            <a:avLst/>
          </a:prstGeom>
          <a:noFill/>
          <a:ln/>
        </p:spPr>
        <p:txBody>
          <a:bodyPr wrap="square" rtlCol="0" anchor="ctr"/>
          <a:lstStyle/>
          <a:p>
            <a:pPr algn="l" indent="0" marL="0">
              <a:buNone/>
            </a:pPr>
            <a:r>
              <a:rPr lang="en-US" sz="3800" b="1" dirty="0">
                <a:solidFill>
                  <a:srgbClr val="102A43"/>
                </a:solidFill>
                <a:latin typeface="Cambria" pitchFamily="34" charset="0"/>
                <a:ea typeface="Cambria" pitchFamily="34" charset="-122"/>
                <a:cs typeface="Cambria" pitchFamily="34" charset="-120"/>
              </a:rPr>
              <a:t>4</a:t>
            </a:r>
            <a:endParaRPr lang="en-US" sz="3800" dirty="0"/>
          </a:p>
        </p:txBody>
      </p:sp>
      <p:sp>
        <p:nvSpPr>
          <p:cNvPr id="16" name="Text 14"/>
          <p:cNvSpPr/>
          <p:nvPr/>
        </p:nvSpPr>
        <p:spPr>
          <a:xfrm>
            <a:off x="3840480" y="5742432"/>
            <a:ext cx="2697480" cy="320040"/>
          </a:xfrm>
          <a:prstGeom prst="rect">
            <a:avLst/>
          </a:prstGeom>
          <a:noFill/>
          <a:ln/>
        </p:spPr>
        <p:txBody>
          <a:bodyPr wrap="square" rtlCol="0" anchor="ctr"/>
          <a:lstStyle/>
          <a:p>
            <a:pPr algn="l" indent="0" marL="0">
              <a:buNone/>
            </a:pPr>
            <a:r>
              <a:rPr lang="en-US" sz="1250" dirty="0">
                <a:solidFill>
                  <a:srgbClr val="5B6B7B"/>
                </a:solidFill>
                <a:latin typeface="Calibri" pitchFamily="34" charset="0"/>
                <a:ea typeface="Calibri" pitchFamily="34" charset="-122"/>
                <a:cs typeface="Calibri" pitchFamily="34" charset="-120"/>
              </a:rPr>
              <a:t>Days of play</a:t>
            </a:r>
            <a:endParaRPr lang="en-US" sz="1250" dirty="0"/>
          </a:p>
        </p:txBody>
      </p:sp>
      <p:pic>
        <p:nvPicPr>
          <p:cNvPr id="17" name="Image 0" descr="/tmp/p1.jpg">    </p:cNvPr>
          <p:cNvPicPr>
            <a:picLocks noChangeAspect="1"/>
          </p:cNvPicPr>
          <p:nvPr/>
        </p:nvPicPr>
        <p:blipFill>
          <a:blip r:embed="rId1"/>
          <a:srcRect l="0" r="0" t="0" b="0"/>
          <a:stretch/>
        </p:blipFill>
        <p:spPr>
          <a:xfrm>
            <a:off x="7040880" y="1554480"/>
            <a:ext cx="4572000" cy="3200400"/>
          </a:xfrm>
          <a:prstGeom prst="rect">
            <a:avLst/>
          </a:prstGeom>
        </p:spPr>
      </p:pic>
      <p:sp>
        <p:nvSpPr>
          <p:cNvPr id="18" name="Text 15"/>
          <p:cNvSpPr/>
          <p:nvPr/>
        </p:nvSpPr>
        <p:spPr>
          <a:xfrm>
            <a:off x="7040880" y="4846320"/>
            <a:ext cx="4572000" cy="365760"/>
          </a:xfrm>
          <a:prstGeom prst="rect">
            <a:avLst/>
          </a:prstGeom>
          <a:noFill/>
          <a:ln/>
        </p:spPr>
        <p:txBody>
          <a:bodyPr wrap="square" rtlCol="0" anchor="ctr"/>
          <a:lstStyle/>
          <a:p>
            <a:pPr indent="0" marL="0">
              <a:buNone/>
            </a:pPr>
            <a:r>
              <a:rPr lang="en-US" sz="1200" i="1" dirty="0">
                <a:solidFill>
                  <a:srgbClr val="5B6B7B"/>
                </a:solidFill>
                <a:latin typeface="Calibri" pitchFamily="34" charset="0"/>
                <a:ea typeface="Calibri" pitchFamily="34" charset="-122"/>
                <a:cs typeface="Calibri" pitchFamily="34" charset="-120"/>
              </a:rPr>
              <a:t>Elite men’s &amp; women’s divisions, played to IHF rules.</a:t>
            </a:r>
            <a:endParaRPr lang="en-US" sz="1200" dirty="0"/>
          </a:p>
        </p:txBody>
      </p:sp>
      <p:sp>
        <p:nvSpPr>
          <p:cNvPr id="19" name="Text 16"/>
          <p:cNvSpPr/>
          <p:nvPr/>
        </p:nvSpPr>
        <p:spPr>
          <a:xfrm>
            <a:off x="548640" y="6400800"/>
            <a:ext cx="5486400" cy="274320"/>
          </a:xfrm>
          <a:prstGeom prst="rect">
            <a:avLst/>
          </a:prstGeom>
          <a:noFill/>
          <a:ln/>
        </p:spPr>
        <p:txBody>
          <a:bodyPr wrap="square" rtlCol="0" anchor="ctr"/>
          <a:lstStyle/>
          <a:p>
            <a:pPr indent="0" marL="0">
              <a:buNone/>
            </a:pPr>
            <a:r>
              <a:rPr lang="en-US" sz="900" spc="200" kern="0" dirty="0">
                <a:solidFill>
                  <a:srgbClr val="5B6B7B"/>
                </a:solidFill>
                <a:latin typeface="Calibri" pitchFamily="34" charset="0"/>
                <a:ea typeface="Calibri" pitchFamily="34" charset="-122"/>
                <a:cs typeface="Calibri" pitchFamily="34" charset="-120"/>
              </a:rPr>
              <a:t>CALIFORNIA CUP XX</a:t>
            </a:r>
            <a:endParaRPr lang="en-US" sz="900" dirty="0"/>
          </a:p>
        </p:txBody>
      </p:sp>
      <p:sp>
        <p:nvSpPr>
          <p:cNvPr id="20" name="Text 17"/>
          <p:cNvSpPr/>
          <p:nvPr/>
        </p:nvSpPr>
        <p:spPr>
          <a:xfrm>
            <a:off x="7982712" y="6400800"/>
            <a:ext cx="3657600" cy="274320"/>
          </a:xfrm>
          <a:prstGeom prst="rect">
            <a:avLst/>
          </a:prstGeom>
          <a:noFill/>
          <a:ln/>
        </p:spPr>
        <p:txBody>
          <a:bodyPr wrap="square"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Partnership Prospectus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02A43"/>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rtlCol="0" anchor="ctr"/>
          <a:lstStyle/>
          <a:p>
            <a:pPr indent="0" marL="0">
              <a:buNone/>
            </a:pPr>
            <a:r>
              <a:rPr lang="en-US" sz="1200" b="1" spc="200" kern="0" dirty="0">
                <a:solidFill>
                  <a:srgbClr val="F47920"/>
                </a:solidFill>
                <a:latin typeface="Calibri" pitchFamily="34" charset="0"/>
                <a:ea typeface="Calibri" pitchFamily="34" charset="-122"/>
                <a:cs typeface="Calibri" pitchFamily="34" charset="-120"/>
              </a:rPr>
              <a:t>WHY PARTNER</a:t>
            </a:r>
            <a:endParaRPr lang="en-US" sz="1200" dirty="0"/>
          </a:p>
        </p:txBody>
      </p:sp>
      <p:sp>
        <p:nvSpPr>
          <p:cNvPr id="3" name="Text 1"/>
          <p:cNvSpPr/>
          <p:nvPr/>
        </p:nvSpPr>
        <p:spPr>
          <a:xfrm>
            <a:off x="548640" y="749808"/>
            <a:ext cx="10881360" cy="73152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Reach an engaged national audience</a:t>
            </a:r>
            <a:endParaRPr lang="en-US" sz="3200" dirty="0"/>
          </a:p>
        </p:txBody>
      </p:sp>
      <p:sp>
        <p:nvSpPr>
          <p:cNvPr id="4" name="Shape 2"/>
          <p:cNvSpPr/>
          <p:nvPr/>
        </p:nvSpPr>
        <p:spPr>
          <a:xfrm>
            <a:off x="548640" y="1600200"/>
            <a:ext cx="11064240" cy="1078992"/>
          </a:xfrm>
          <a:prstGeom prst="roundRect">
            <a:avLst>
              <a:gd name="adj" fmla="val 6780"/>
            </a:avLst>
          </a:prstGeom>
          <a:solidFill>
            <a:srgbClr val="FFFFFF">
              <a:alpha val="8000"/>
            </a:srgbClr>
          </a:solidFill>
          <a:ln w="9525">
            <a:solidFill>
              <a:srgbClr val="FFFFFF"/>
            </a:solidFill>
            <a:prstDash val="solid"/>
          </a:ln>
        </p:spPr>
      </p:sp>
      <p:sp>
        <p:nvSpPr>
          <p:cNvPr id="5" name="Shape 3"/>
          <p:cNvSpPr/>
          <p:nvPr/>
        </p:nvSpPr>
        <p:spPr>
          <a:xfrm>
            <a:off x="822960" y="1847088"/>
            <a:ext cx="585216" cy="585216"/>
          </a:xfrm>
          <a:prstGeom prst="ellipse">
            <a:avLst/>
          </a:prstGeom>
          <a:solidFill>
            <a:srgbClr val="F47920"/>
          </a:solidFill>
          <a:ln/>
        </p:spPr>
      </p:sp>
      <p:pic>
        <p:nvPicPr>
          <p:cNvPr id="6" name="Image 0" descr="preencoded.png">    </p:cNvPr>
          <p:cNvPicPr>
            <a:picLocks noChangeAspect="1"/>
          </p:cNvPicPr>
          <p:nvPr/>
        </p:nvPicPr>
        <p:blipFill>
          <a:blip r:embed="rId1"/>
          <a:stretch>
            <a:fillRect/>
          </a:stretch>
        </p:blipFill>
        <p:spPr>
          <a:xfrm>
            <a:off x="969264" y="1993392"/>
            <a:ext cx="292608" cy="292608"/>
          </a:xfrm>
          <a:prstGeom prst="rect">
            <a:avLst/>
          </a:prstGeom>
        </p:spPr>
      </p:pic>
      <p:sp>
        <p:nvSpPr>
          <p:cNvPr id="7" name="Text 4"/>
          <p:cNvSpPr/>
          <p:nvPr/>
        </p:nvSpPr>
        <p:spPr>
          <a:xfrm>
            <a:off x="1691640" y="1746504"/>
            <a:ext cx="9601200" cy="36576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Nationwide live stream</a:t>
            </a:r>
            <a:endParaRPr lang="en-US" sz="1700" dirty="0"/>
          </a:p>
        </p:txBody>
      </p:sp>
      <p:sp>
        <p:nvSpPr>
          <p:cNvPr id="8" name="Text 5"/>
          <p:cNvSpPr/>
          <p:nvPr/>
        </p:nvSpPr>
        <p:spPr>
          <a:xfrm>
            <a:off x="1691640" y="2103120"/>
            <a:ext cx="9692640" cy="502920"/>
          </a:xfrm>
          <a:prstGeom prst="rect">
            <a:avLst/>
          </a:prstGeom>
          <a:noFill/>
          <a:ln/>
        </p:spPr>
        <p:txBody>
          <a:bodyPr wrap="square" rtlCol="0" anchor="ctr"/>
          <a:lstStyle/>
          <a:p>
            <a:pPr indent="0" marL="0">
              <a:buNone/>
            </a:pPr>
            <a:r>
              <a:rPr lang="en-US" sz="1250" dirty="0">
                <a:solidFill>
                  <a:srgbClr val="CFE0F0"/>
                </a:solidFill>
                <a:latin typeface="Calibri" pitchFamily="34" charset="0"/>
                <a:ea typeface="Calibri" pitchFamily="34" charset="-122"/>
                <a:cs typeface="Calibri" pitchFamily="34" charset="-120"/>
              </a:rPr>
              <a:t>Every game streamed on YouTube across three days, plus post-event highlights — logo exposure well beyond the venue.</a:t>
            </a:r>
            <a:endParaRPr lang="en-US" sz="1250" dirty="0"/>
          </a:p>
        </p:txBody>
      </p:sp>
      <p:sp>
        <p:nvSpPr>
          <p:cNvPr id="9" name="Shape 6"/>
          <p:cNvSpPr/>
          <p:nvPr/>
        </p:nvSpPr>
        <p:spPr>
          <a:xfrm>
            <a:off x="548640" y="2807208"/>
            <a:ext cx="11064240" cy="1078992"/>
          </a:xfrm>
          <a:prstGeom prst="roundRect">
            <a:avLst>
              <a:gd name="adj" fmla="val 6780"/>
            </a:avLst>
          </a:prstGeom>
          <a:solidFill>
            <a:srgbClr val="FFFFFF">
              <a:alpha val="8000"/>
            </a:srgbClr>
          </a:solidFill>
          <a:ln w="9525">
            <a:solidFill>
              <a:srgbClr val="FFFFFF"/>
            </a:solidFill>
            <a:prstDash val="solid"/>
          </a:ln>
        </p:spPr>
      </p:sp>
      <p:sp>
        <p:nvSpPr>
          <p:cNvPr id="10" name="Shape 7"/>
          <p:cNvSpPr/>
          <p:nvPr/>
        </p:nvSpPr>
        <p:spPr>
          <a:xfrm>
            <a:off x="822960" y="3054096"/>
            <a:ext cx="585216" cy="585216"/>
          </a:xfrm>
          <a:prstGeom prst="ellipse">
            <a:avLst/>
          </a:prstGeom>
          <a:solidFill>
            <a:srgbClr val="F47920"/>
          </a:solidFill>
          <a:ln/>
        </p:spPr>
      </p:sp>
      <p:pic>
        <p:nvPicPr>
          <p:cNvPr id="11" name="Image 1" descr="preencoded.png">    </p:cNvPr>
          <p:cNvPicPr>
            <a:picLocks noChangeAspect="1"/>
          </p:cNvPicPr>
          <p:nvPr/>
        </p:nvPicPr>
        <p:blipFill>
          <a:blip r:embed="rId2"/>
          <a:stretch>
            <a:fillRect/>
          </a:stretch>
        </p:blipFill>
        <p:spPr>
          <a:xfrm>
            <a:off x="969264" y="3200400"/>
            <a:ext cx="292608" cy="292608"/>
          </a:xfrm>
          <a:prstGeom prst="rect">
            <a:avLst/>
          </a:prstGeom>
        </p:spPr>
      </p:pic>
      <p:sp>
        <p:nvSpPr>
          <p:cNvPr id="12" name="Text 8"/>
          <p:cNvSpPr/>
          <p:nvPr/>
        </p:nvSpPr>
        <p:spPr>
          <a:xfrm>
            <a:off x="1691640" y="2953512"/>
            <a:ext cx="9601200" cy="36576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~200 athletes + families</a:t>
            </a:r>
            <a:endParaRPr lang="en-US" sz="1700" dirty="0"/>
          </a:p>
        </p:txBody>
      </p:sp>
      <p:sp>
        <p:nvSpPr>
          <p:cNvPr id="13" name="Text 9"/>
          <p:cNvSpPr/>
          <p:nvPr/>
        </p:nvSpPr>
        <p:spPr>
          <a:xfrm>
            <a:off x="1691640" y="3310128"/>
            <a:ext cx="9692640" cy="502920"/>
          </a:xfrm>
          <a:prstGeom prst="rect">
            <a:avLst/>
          </a:prstGeom>
          <a:noFill/>
          <a:ln/>
        </p:spPr>
        <p:txBody>
          <a:bodyPr wrap="square" rtlCol="0" anchor="ctr"/>
          <a:lstStyle/>
          <a:p>
            <a:pPr indent="0" marL="0">
              <a:buNone/>
            </a:pPr>
            <a:r>
              <a:rPr lang="en-US" sz="1250" dirty="0">
                <a:solidFill>
                  <a:srgbClr val="CFE0F0"/>
                </a:solidFill>
                <a:latin typeface="Calibri" pitchFamily="34" charset="0"/>
                <a:ea typeface="Calibri" pitchFamily="34" charset="-122"/>
                <a:cs typeface="Calibri" pitchFamily="34" charset="-120"/>
              </a:rPr>
              <a:t>A tight, engaged community of players, clubs and supporters travelling from across North America.</a:t>
            </a:r>
            <a:endParaRPr lang="en-US" sz="1250" dirty="0"/>
          </a:p>
        </p:txBody>
      </p:sp>
      <p:sp>
        <p:nvSpPr>
          <p:cNvPr id="14" name="Shape 10"/>
          <p:cNvSpPr/>
          <p:nvPr/>
        </p:nvSpPr>
        <p:spPr>
          <a:xfrm>
            <a:off x="548640" y="4014216"/>
            <a:ext cx="11064240" cy="1078992"/>
          </a:xfrm>
          <a:prstGeom prst="roundRect">
            <a:avLst>
              <a:gd name="adj" fmla="val 6780"/>
            </a:avLst>
          </a:prstGeom>
          <a:solidFill>
            <a:srgbClr val="FFFFFF">
              <a:alpha val="8000"/>
            </a:srgbClr>
          </a:solidFill>
          <a:ln w="9525">
            <a:solidFill>
              <a:srgbClr val="FFFFFF"/>
            </a:solidFill>
            <a:prstDash val="solid"/>
          </a:ln>
        </p:spPr>
      </p:sp>
      <p:sp>
        <p:nvSpPr>
          <p:cNvPr id="15" name="Shape 11"/>
          <p:cNvSpPr/>
          <p:nvPr/>
        </p:nvSpPr>
        <p:spPr>
          <a:xfrm>
            <a:off x="822960" y="4261104"/>
            <a:ext cx="585216" cy="585216"/>
          </a:xfrm>
          <a:prstGeom prst="ellipse">
            <a:avLst/>
          </a:prstGeom>
          <a:solidFill>
            <a:srgbClr val="F47920"/>
          </a:solidFill>
          <a:ln/>
        </p:spPr>
      </p:sp>
      <p:pic>
        <p:nvPicPr>
          <p:cNvPr id="16" name="Image 2" descr="preencoded.png">    </p:cNvPr>
          <p:cNvPicPr>
            <a:picLocks noChangeAspect="1"/>
          </p:cNvPicPr>
          <p:nvPr/>
        </p:nvPicPr>
        <p:blipFill>
          <a:blip r:embed="rId3"/>
          <a:stretch>
            <a:fillRect/>
          </a:stretch>
        </p:blipFill>
        <p:spPr>
          <a:xfrm>
            <a:off x="969264" y="4407408"/>
            <a:ext cx="292608" cy="292608"/>
          </a:xfrm>
          <a:prstGeom prst="rect">
            <a:avLst/>
          </a:prstGeom>
        </p:spPr>
      </p:pic>
      <p:sp>
        <p:nvSpPr>
          <p:cNvPr id="17" name="Text 12"/>
          <p:cNvSpPr/>
          <p:nvPr/>
        </p:nvSpPr>
        <p:spPr>
          <a:xfrm>
            <a:off x="1691640" y="4160520"/>
            <a:ext cx="9601200" cy="36576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A genuine national stake</a:t>
            </a:r>
            <a:endParaRPr lang="en-US" sz="1700" dirty="0"/>
          </a:p>
        </p:txBody>
      </p:sp>
      <p:sp>
        <p:nvSpPr>
          <p:cNvPr id="18" name="Text 13"/>
          <p:cNvSpPr/>
          <p:nvPr/>
        </p:nvSpPr>
        <p:spPr>
          <a:xfrm>
            <a:off x="1691640" y="4517136"/>
            <a:ext cx="9692640" cy="502920"/>
          </a:xfrm>
          <a:prstGeom prst="rect">
            <a:avLst/>
          </a:prstGeom>
          <a:noFill/>
          <a:ln/>
        </p:spPr>
        <p:txBody>
          <a:bodyPr wrap="square" rtlCol="0" anchor="ctr"/>
          <a:lstStyle/>
          <a:p>
            <a:pPr indent="0" marL="0">
              <a:buNone/>
            </a:pPr>
            <a:r>
              <a:rPr lang="en-US" sz="1250" dirty="0">
                <a:solidFill>
                  <a:srgbClr val="CFE0F0"/>
                </a:solidFill>
                <a:latin typeface="Calibri" pitchFamily="34" charset="0"/>
                <a:ea typeface="Calibri" pitchFamily="34" charset="-122"/>
                <a:cs typeface="Calibri" pitchFamily="34" charset="-120"/>
              </a:rPr>
              <a:t>CalCup is a USA Team Handball ‘Wild Card’ qualifier for the US Nationals Elite division.</a:t>
            </a:r>
            <a:endParaRPr lang="en-US" sz="1250" dirty="0"/>
          </a:p>
        </p:txBody>
      </p:sp>
      <p:sp>
        <p:nvSpPr>
          <p:cNvPr id="19" name="Shape 14"/>
          <p:cNvSpPr/>
          <p:nvPr/>
        </p:nvSpPr>
        <p:spPr>
          <a:xfrm>
            <a:off x="548640" y="5221224"/>
            <a:ext cx="11064240" cy="1078992"/>
          </a:xfrm>
          <a:prstGeom prst="roundRect">
            <a:avLst>
              <a:gd name="adj" fmla="val 6780"/>
            </a:avLst>
          </a:prstGeom>
          <a:solidFill>
            <a:srgbClr val="FFFFFF">
              <a:alpha val="8000"/>
            </a:srgbClr>
          </a:solidFill>
          <a:ln w="9525">
            <a:solidFill>
              <a:srgbClr val="FFFFFF"/>
            </a:solidFill>
            <a:prstDash val="solid"/>
          </a:ln>
        </p:spPr>
      </p:sp>
      <p:sp>
        <p:nvSpPr>
          <p:cNvPr id="20" name="Shape 15"/>
          <p:cNvSpPr/>
          <p:nvPr/>
        </p:nvSpPr>
        <p:spPr>
          <a:xfrm>
            <a:off x="822960" y="5468112"/>
            <a:ext cx="585216" cy="585216"/>
          </a:xfrm>
          <a:prstGeom prst="ellipse">
            <a:avLst/>
          </a:prstGeom>
          <a:solidFill>
            <a:srgbClr val="F47920"/>
          </a:solidFill>
          <a:ln/>
        </p:spPr>
      </p:sp>
      <p:pic>
        <p:nvPicPr>
          <p:cNvPr id="21" name="Image 3" descr="preencoded.png">    </p:cNvPr>
          <p:cNvPicPr>
            <a:picLocks noChangeAspect="1"/>
          </p:cNvPicPr>
          <p:nvPr/>
        </p:nvPicPr>
        <p:blipFill>
          <a:blip r:embed="rId4"/>
          <a:stretch>
            <a:fillRect/>
          </a:stretch>
        </p:blipFill>
        <p:spPr>
          <a:xfrm>
            <a:off x="969264" y="5614416"/>
            <a:ext cx="292608" cy="292608"/>
          </a:xfrm>
          <a:prstGeom prst="rect">
            <a:avLst/>
          </a:prstGeom>
        </p:spPr>
      </p:pic>
      <p:sp>
        <p:nvSpPr>
          <p:cNvPr id="22" name="Text 16"/>
          <p:cNvSpPr/>
          <p:nvPr/>
        </p:nvSpPr>
        <p:spPr>
          <a:xfrm>
            <a:off x="1691640" y="5367528"/>
            <a:ext cx="9601200" cy="36576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Support a nonprofit mission</a:t>
            </a:r>
            <a:endParaRPr lang="en-US" sz="1700" dirty="0"/>
          </a:p>
        </p:txBody>
      </p:sp>
      <p:sp>
        <p:nvSpPr>
          <p:cNvPr id="23" name="Text 17"/>
          <p:cNvSpPr/>
          <p:nvPr/>
        </p:nvSpPr>
        <p:spPr>
          <a:xfrm>
            <a:off x="1691640" y="5724144"/>
            <a:ext cx="9692640" cy="502920"/>
          </a:xfrm>
          <a:prstGeom prst="rect">
            <a:avLst/>
          </a:prstGeom>
          <a:noFill/>
          <a:ln/>
        </p:spPr>
        <p:txBody>
          <a:bodyPr wrap="square" rtlCol="0" anchor="ctr"/>
          <a:lstStyle/>
          <a:p>
            <a:pPr indent="0" marL="0">
              <a:buNone/>
            </a:pPr>
            <a:r>
              <a:rPr lang="en-US" sz="1250" dirty="0">
                <a:solidFill>
                  <a:srgbClr val="CFE0F0"/>
                </a:solidFill>
                <a:latin typeface="Calibri" pitchFamily="34" charset="0"/>
                <a:ea typeface="Calibri" pitchFamily="34" charset="-122"/>
                <a:cs typeface="Calibri" pitchFamily="34" charset="-120"/>
              </a:rPr>
              <a:t>CalHeat is a 501(c)(3) reinvesting proceeds into grassroots and youth handball.</a:t>
            </a:r>
            <a:endParaRPr lang="en-US" sz="1250" dirty="0"/>
          </a:p>
        </p:txBody>
      </p:sp>
      <p:sp>
        <p:nvSpPr>
          <p:cNvPr id="24" name="Text 18"/>
          <p:cNvSpPr/>
          <p:nvPr/>
        </p:nvSpPr>
        <p:spPr>
          <a:xfrm>
            <a:off x="548640" y="6400800"/>
            <a:ext cx="5486400" cy="274320"/>
          </a:xfrm>
          <a:prstGeom prst="rect">
            <a:avLst/>
          </a:prstGeom>
          <a:noFill/>
          <a:ln/>
        </p:spPr>
        <p:txBody>
          <a:bodyPr wrap="square" rtlCol="0" anchor="ctr"/>
          <a:lstStyle/>
          <a:p>
            <a:pPr indent="0" marL="0">
              <a:buNone/>
            </a:pPr>
            <a:r>
              <a:rPr lang="en-US" sz="900" spc="200" kern="0" dirty="0">
                <a:solidFill>
                  <a:srgbClr val="5B6B7B"/>
                </a:solidFill>
                <a:latin typeface="Calibri" pitchFamily="34" charset="0"/>
                <a:ea typeface="Calibri" pitchFamily="34" charset="-122"/>
                <a:cs typeface="Calibri" pitchFamily="34" charset="-120"/>
              </a:rPr>
              <a:t>CALIFORNIA CUP XX</a:t>
            </a:r>
            <a:endParaRPr lang="en-US" sz="900" dirty="0"/>
          </a:p>
        </p:txBody>
      </p:sp>
      <p:sp>
        <p:nvSpPr>
          <p:cNvPr id="25" name="Text 19"/>
          <p:cNvSpPr/>
          <p:nvPr/>
        </p:nvSpPr>
        <p:spPr>
          <a:xfrm>
            <a:off x="7982712" y="6400800"/>
            <a:ext cx="3657600" cy="274320"/>
          </a:xfrm>
          <a:prstGeom prst="rect">
            <a:avLst/>
          </a:prstGeom>
          <a:noFill/>
          <a:ln/>
        </p:spPr>
        <p:txBody>
          <a:bodyPr wrap="square"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Partnership Prospectus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A"/>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rtlCol="0" anchor="ctr"/>
          <a:lstStyle/>
          <a:p>
            <a:pPr indent="0" marL="0">
              <a:buNone/>
            </a:pPr>
            <a:r>
              <a:rPr lang="en-US" sz="1200" b="1" spc="200" kern="0" dirty="0">
                <a:solidFill>
                  <a:srgbClr val="F47920"/>
                </a:solidFill>
                <a:latin typeface="Calibri" pitchFamily="34" charset="0"/>
                <a:ea typeface="Calibri" pitchFamily="34" charset="-122"/>
                <a:cs typeface="Calibri" pitchFamily="34" charset="-120"/>
              </a:rPr>
              <a:t>THE ASK</a:t>
            </a:r>
            <a:endParaRPr lang="en-US" sz="1200" dirty="0"/>
          </a:p>
        </p:txBody>
      </p:sp>
      <p:sp>
        <p:nvSpPr>
          <p:cNvPr id="3" name="Text 1"/>
          <p:cNvSpPr/>
          <p:nvPr/>
        </p:nvSpPr>
        <p:spPr>
          <a:xfrm>
            <a:off x="548640" y="749808"/>
            <a:ext cx="10881360" cy="731520"/>
          </a:xfrm>
          <a:prstGeom prst="rect">
            <a:avLst/>
          </a:prstGeom>
          <a:noFill/>
          <a:ln/>
        </p:spPr>
        <p:txBody>
          <a:bodyPr wrap="square" rtlCol="0" anchor="ctr"/>
          <a:lstStyle/>
          <a:p>
            <a:pPr indent="0" marL="0">
              <a:buNone/>
            </a:pPr>
            <a:r>
              <a:rPr lang="en-US" sz="3200" b="1" dirty="0">
                <a:solidFill>
                  <a:srgbClr val="102A43"/>
                </a:solidFill>
                <a:latin typeface="Cambria" pitchFamily="34" charset="0"/>
                <a:ea typeface="Cambria" pitchFamily="34" charset="-122"/>
                <a:cs typeface="Cambria" pitchFamily="34" charset="-120"/>
              </a:rPr>
              <a:t>A simple, affordable sponsorship</a:t>
            </a:r>
            <a:endParaRPr lang="en-US" sz="3200" dirty="0"/>
          </a:p>
        </p:txBody>
      </p:sp>
      <p:sp>
        <p:nvSpPr>
          <p:cNvPr id="4" name="Shape 2"/>
          <p:cNvSpPr/>
          <p:nvPr/>
        </p:nvSpPr>
        <p:spPr>
          <a:xfrm>
            <a:off x="548640" y="1691640"/>
            <a:ext cx="4206240" cy="3566160"/>
          </a:xfrm>
          <a:prstGeom prst="roundRect">
            <a:avLst>
              <a:gd name="adj" fmla="val 2564"/>
            </a:avLst>
          </a:prstGeom>
          <a:solidFill>
            <a:srgbClr val="102A43"/>
          </a:solidFill>
          <a:ln/>
          <a:effectLst>
            <a:outerShdw sx="100000" sy="100000" kx="0" ky="0" algn="bl" rotWithShape="0" blurRad="114300" dist="38100" dir="5400000">
              <a:srgbClr val="000000">
                <a:alpha val="16000"/>
              </a:srgbClr>
            </a:outerShdw>
          </a:effectLst>
        </p:spPr>
      </p:sp>
      <p:sp>
        <p:nvSpPr>
          <p:cNvPr id="5" name="Text 3"/>
          <p:cNvSpPr/>
          <p:nvPr/>
        </p:nvSpPr>
        <p:spPr>
          <a:xfrm>
            <a:off x="548640" y="2057400"/>
            <a:ext cx="4206240" cy="320040"/>
          </a:xfrm>
          <a:prstGeom prst="rect">
            <a:avLst/>
          </a:prstGeom>
          <a:noFill/>
          <a:ln/>
        </p:spPr>
        <p:txBody>
          <a:bodyPr wrap="square" rtlCol="0" anchor="ctr"/>
          <a:lstStyle/>
          <a:p>
            <a:pPr algn="ctr" indent="0" marL="0">
              <a:buNone/>
            </a:pPr>
            <a:r>
              <a:rPr lang="en-US" sz="1300" b="1" spc="200" kern="0" dirty="0">
                <a:solidFill>
                  <a:srgbClr val="9DB4CB"/>
                </a:solidFill>
                <a:latin typeface="Calibri" pitchFamily="34" charset="0"/>
                <a:ea typeface="Calibri" pitchFamily="34" charset="-122"/>
                <a:cs typeface="Calibri" pitchFamily="34" charset="-120"/>
              </a:rPr>
              <a:t>SPONSORSHIP</a:t>
            </a:r>
            <a:endParaRPr lang="en-US" sz="1300" dirty="0"/>
          </a:p>
        </p:txBody>
      </p:sp>
      <p:sp>
        <p:nvSpPr>
          <p:cNvPr id="6" name="Text 4"/>
          <p:cNvSpPr/>
          <p:nvPr/>
        </p:nvSpPr>
        <p:spPr>
          <a:xfrm>
            <a:off x="548640" y="2423160"/>
            <a:ext cx="4206240" cy="914400"/>
          </a:xfrm>
          <a:prstGeom prst="rect">
            <a:avLst/>
          </a:prstGeom>
          <a:noFill/>
          <a:ln/>
        </p:spPr>
        <p:txBody>
          <a:bodyPr wrap="square" rtlCol="0" anchor="ctr"/>
          <a:lstStyle/>
          <a:p>
            <a:pPr algn="ctr" indent="0" marL="0">
              <a:buNone/>
            </a:pPr>
            <a:r>
              <a:rPr lang="en-US" sz="5400" b="1" dirty="0">
                <a:solidFill>
                  <a:srgbClr val="FFFFFF"/>
                </a:solidFill>
                <a:latin typeface="Cambria" pitchFamily="34" charset="0"/>
                <a:ea typeface="Cambria" pitchFamily="34" charset="-122"/>
                <a:cs typeface="Cambria" pitchFamily="34" charset="-120"/>
              </a:rPr>
              <a:t>$1,500</a:t>
            </a:r>
            <a:endParaRPr lang="en-US" sz="5400" dirty="0"/>
          </a:p>
        </p:txBody>
      </p:sp>
      <p:sp>
        <p:nvSpPr>
          <p:cNvPr id="7" name="Text 5"/>
          <p:cNvSpPr/>
          <p:nvPr/>
        </p:nvSpPr>
        <p:spPr>
          <a:xfrm>
            <a:off x="548640" y="3383280"/>
            <a:ext cx="4206240" cy="457200"/>
          </a:xfrm>
          <a:prstGeom prst="rect">
            <a:avLst/>
          </a:prstGeom>
          <a:noFill/>
          <a:ln/>
        </p:spPr>
        <p:txBody>
          <a:bodyPr wrap="square" rtlCol="0" anchor="ctr"/>
          <a:lstStyle/>
          <a:p>
            <a:pPr algn="ctr" indent="0" marL="0">
              <a:buNone/>
            </a:pPr>
            <a:r>
              <a:rPr lang="en-US" sz="2600" i="1" dirty="0">
                <a:solidFill>
                  <a:srgbClr val="F47920"/>
                </a:solidFill>
                <a:latin typeface="Cambria" pitchFamily="34" charset="0"/>
                <a:ea typeface="Cambria" pitchFamily="34" charset="-122"/>
                <a:cs typeface="Cambria" pitchFamily="34" charset="-120"/>
              </a:rPr>
              <a:t>to $2,000</a:t>
            </a:r>
            <a:endParaRPr lang="en-US" sz="2600" dirty="0"/>
          </a:p>
        </p:txBody>
      </p:sp>
      <p:sp>
        <p:nvSpPr>
          <p:cNvPr id="8" name="Text 6"/>
          <p:cNvSpPr/>
          <p:nvPr/>
        </p:nvSpPr>
        <p:spPr>
          <a:xfrm>
            <a:off x="548640" y="3931920"/>
            <a:ext cx="4206240" cy="365760"/>
          </a:xfrm>
          <a:prstGeom prst="rect">
            <a:avLst/>
          </a:prstGeom>
          <a:noFill/>
          <a:ln/>
        </p:spPr>
        <p:txBody>
          <a:bodyPr wrap="square" rtlCol="0" anchor="ctr"/>
          <a:lstStyle/>
          <a:p>
            <a:pPr algn="ctr" indent="0" marL="0">
              <a:buNone/>
            </a:pPr>
            <a:r>
              <a:rPr lang="en-US" sz="1400" dirty="0">
                <a:solidFill>
                  <a:srgbClr val="CFE0F0"/>
                </a:solidFill>
                <a:latin typeface="Calibri" pitchFamily="34" charset="0"/>
                <a:ea typeface="Calibri" pitchFamily="34" charset="-122"/>
                <a:cs typeface="Calibri" pitchFamily="34" charset="-120"/>
              </a:rPr>
              <a:t>per sponsor</a:t>
            </a:r>
            <a:endParaRPr lang="en-US" sz="1400" dirty="0"/>
          </a:p>
        </p:txBody>
      </p:sp>
      <p:sp>
        <p:nvSpPr>
          <p:cNvPr id="9" name="Text 7"/>
          <p:cNvSpPr/>
          <p:nvPr/>
        </p:nvSpPr>
        <p:spPr>
          <a:xfrm>
            <a:off x="777240" y="4434840"/>
            <a:ext cx="3749040" cy="640080"/>
          </a:xfrm>
          <a:prstGeom prst="rect">
            <a:avLst/>
          </a:prstGeom>
          <a:noFill/>
          <a:ln/>
        </p:spPr>
        <p:txBody>
          <a:bodyPr wrap="square" rtlCol="0" anchor="ctr"/>
          <a:lstStyle/>
          <a:p>
            <a:pPr algn="ctr" indent="0" marL="0">
              <a:buNone/>
            </a:pPr>
            <a:r>
              <a:rPr lang="en-US" sz="1200" i="1" dirty="0">
                <a:solidFill>
                  <a:srgbClr val="CFE0F0"/>
                </a:solidFill>
                <a:latin typeface="Calibri" pitchFamily="34" charset="0"/>
                <a:ea typeface="Calibri" pitchFamily="34" charset="-122"/>
                <a:cs typeface="Calibri" pitchFamily="34" charset="-120"/>
              </a:rPr>
              <a:t>Keeps registration affordable for teams travelling from across North America.</a:t>
            </a:r>
            <a:endParaRPr lang="en-US" sz="1200" dirty="0"/>
          </a:p>
        </p:txBody>
      </p:sp>
      <p:sp>
        <p:nvSpPr>
          <p:cNvPr id="10" name="Text 8"/>
          <p:cNvSpPr/>
          <p:nvPr/>
        </p:nvSpPr>
        <p:spPr>
          <a:xfrm>
            <a:off x="5120640" y="1737360"/>
            <a:ext cx="6400800" cy="365760"/>
          </a:xfrm>
          <a:prstGeom prst="rect">
            <a:avLst/>
          </a:prstGeom>
          <a:noFill/>
          <a:ln/>
        </p:spPr>
        <p:txBody>
          <a:bodyPr wrap="square" rtlCol="0" anchor="ctr"/>
          <a:lstStyle/>
          <a:p>
            <a:pPr indent="0" marL="0">
              <a:buNone/>
            </a:pPr>
            <a:r>
              <a:rPr lang="en-US" sz="1800" b="1" dirty="0">
                <a:solidFill>
                  <a:srgbClr val="102A43"/>
                </a:solidFill>
                <a:latin typeface="Cambria" pitchFamily="34" charset="0"/>
                <a:ea typeface="Cambria" pitchFamily="34" charset="-122"/>
                <a:cs typeface="Cambria" pitchFamily="34" charset="-120"/>
              </a:rPr>
              <a:t>What your support covers</a:t>
            </a:r>
            <a:endParaRPr lang="en-US" sz="1800" dirty="0"/>
          </a:p>
        </p:txBody>
      </p:sp>
      <p:pic>
        <p:nvPicPr>
          <p:cNvPr id="11" name="Image 0" descr="preencoded.png">    </p:cNvPr>
          <p:cNvPicPr>
            <a:picLocks noChangeAspect="1"/>
          </p:cNvPicPr>
          <p:nvPr/>
        </p:nvPicPr>
        <p:blipFill>
          <a:blip r:embed="rId1"/>
          <a:stretch>
            <a:fillRect/>
          </a:stretch>
        </p:blipFill>
        <p:spPr>
          <a:xfrm>
            <a:off x="5166360" y="2331720"/>
            <a:ext cx="292608" cy="292608"/>
          </a:xfrm>
          <a:prstGeom prst="rect">
            <a:avLst/>
          </a:prstGeom>
        </p:spPr>
      </p:pic>
      <p:sp>
        <p:nvSpPr>
          <p:cNvPr id="12" name="Text 9"/>
          <p:cNvSpPr/>
          <p:nvPr/>
        </p:nvSpPr>
        <p:spPr>
          <a:xfrm>
            <a:off x="5623560" y="2267712"/>
            <a:ext cx="5852160" cy="320040"/>
          </a:xfrm>
          <a:prstGeom prst="rect">
            <a:avLst/>
          </a:prstGeom>
          <a:noFill/>
          <a:ln/>
        </p:spPr>
        <p:txBody>
          <a:bodyPr wrap="square" rtlCol="0" anchor="ctr"/>
          <a:lstStyle/>
          <a:p>
            <a:pPr indent="0" marL="0">
              <a:buNone/>
            </a:pPr>
            <a:r>
              <a:rPr lang="en-US" sz="1500" b="1" dirty="0">
                <a:solidFill>
                  <a:srgbClr val="1C2B3A"/>
                </a:solidFill>
                <a:latin typeface="Cambria" pitchFamily="34" charset="0"/>
                <a:ea typeface="Cambria" pitchFamily="34" charset="-122"/>
                <a:cs typeface="Cambria" pitchFamily="34" charset="-120"/>
              </a:rPr>
              <a:t>Venue &amp; facilities</a:t>
            </a:r>
            <a:endParaRPr lang="en-US" sz="1500" dirty="0"/>
          </a:p>
        </p:txBody>
      </p:sp>
      <p:sp>
        <p:nvSpPr>
          <p:cNvPr id="13" name="Text 10"/>
          <p:cNvSpPr/>
          <p:nvPr/>
        </p:nvSpPr>
        <p:spPr>
          <a:xfrm>
            <a:off x="5623560" y="2578608"/>
            <a:ext cx="5852160" cy="320040"/>
          </a:xfrm>
          <a:prstGeom prst="rect">
            <a:avLst/>
          </a:prstGeom>
          <a:noFill/>
          <a:ln/>
        </p:spPr>
        <p:txBody>
          <a:bodyPr wrap="square" rtlCol="0" anchor="ctr"/>
          <a:lstStyle/>
          <a:p>
            <a:pPr indent="0" marL="0">
              <a:buNone/>
            </a:pPr>
            <a:r>
              <a:rPr lang="en-US" sz="1250" dirty="0">
                <a:solidFill>
                  <a:srgbClr val="5B6B7B"/>
                </a:solidFill>
                <a:latin typeface="Calibri" pitchFamily="34" charset="0"/>
                <a:ea typeface="Calibri" pitchFamily="34" charset="-122"/>
                <a:cs typeface="Calibri" pitchFamily="34" charset="-120"/>
              </a:rPr>
              <a:t>Three days of gym rental and setup.</a:t>
            </a:r>
            <a:endParaRPr lang="en-US" sz="1250" dirty="0"/>
          </a:p>
        </p:txBody>
      </p:sp>
      <p:pic>
        <p:nvPicPr>
          <p:cNvPr id="14" name="Image 1" descr="preencoded.png">    </p:cNvPr>
          <p:cNvPicPr>
            <a:picLocks noChangeAspect="1"/>
          </p:cNvPicPr>
          <p:nvPr/>
        </p:nvPicPr>
        <p:blipFill>
          <a:blip r:embed="rId2"/>
          <a:stretch>
            <a:fillRect/>
          </a:stretch>
        </p:blipFill>
        <p:spPr>
          <a:xfrm>
            <a:off x="5166360" y="3081528"/>
            <a:ext cx="292608" cy="292608"/>
          </a:xfrm>
          <a:prstGeom prst="rect">
            <a:avLst/>
          </a:prstGeom>
        </p:spPr>
      </p:pic>
      <p:sp>
        <p:nvSpPr>
          <p:cNvPr id="15" name="Text 11"/>
          <p:cNvSpPr/>
          <p:nvPr/>
        </p:nvSpPr>
        <p:spPr>
          <a:xfrm>
            <a:off x="5623560" y="3017520"/>
            <a:ext cx="5852160" cy="320040"/>
          </a:xfrm>
          <a:prstGeom prst="rect">
            <a:avLst/>
          </a:prstGeom>
          <a:noFill/>
          <a:ln/>
        </p:spPr>
        <p:txBody>
          <a:bodyPr wrap="square" rtlCol="0" anchor="ctr"/>
          <a:lstStyle/>
          <a:p>
            <a:pPr indent="0" marL="0">
              <a:buNone/>
            </a:pPr>
            <a:r>
              <a:rPr lang="en-US" sz="1500" b="1" dirty="0">
                <a:solidFill>
                  <a:srgbClr val="1C2B3A"/>
                </a:solidFill>
                <a:latin typeface="Cambria" pitchFamily="34" charset="0"/>
                <a:ea typeface="Cambria" pitchFamily="34" charset="-122"/>
                <a:cs typeface="Cambria" pitchFamily="34" charset="-120"/>
              </a:rPr>
              <a:t>Referee travel</a:t>
            </a:r>
            <a:endParaRPr lang="en-US" sz="1500" dirty="0"/>
          </a:p>
        </p:txBody>
      </p:sp>
      <p:sp>
        <p:nvSpPr>
          <p:cNvPr id="16" name="Text 12"/>
          <p:cNvSpPr/>
          <p:nvPr/>
        </p:nvSpPr>
        <p:spPr>
          <a:xfrm>
            <a:off x="5623560" y="3328416"/>
            <a:ext cx="5852160" cy="320040"/>
          </a:xfrm>
          <a:prstGeom prst="rect">
            <a:avLst/>
          </a:prstGeom>
          <a:noFill/>
          <a:ln/>
        </p:spPr>
        <p:txBody>
          <a:bodyPr wrap="square" rtlCol="0" anchor="ctr"/>
          <a:lstStyle/>
          <a:p>
            <a:pPr indent="0" marL="0">
              <a:buNone/>
            </a:pPr>
            <a:r>
              <a:rPr lang="en-US" sz="1250" dirty="0">
                <a:solidFill>
                  <a:srgbClr val="5B6B7B"/>
                </a:solidFill>
                <a:latin typeface="Calibri" pitchFamily="34" charset="0"/>
                <a:ea typeface="Calibri" pitchFamily="34" charset="-122"/>
                <a:cs typeface="Calibri" pitchFamily="34" charset="-120"/>
              </a:rPr>
              <a:t>Bringing certified officials to Fremont.</a:t>
            </a:r>
            <a:endParaRPr lang="en-US" sz="1250" dirty="0"/>
          </a:p>
        </p:txBody>
      </p:sp>
      <p:pic>
        <p:nvPicPr>
          <p:cNvPr id="17" name="Image 2" descr="preencoded.png">    </p:cNvPr>
          <p:cNvPicPr>
            <a:picLocks noChangeAspect="1"/>
          </p:cNvPicPr>
          <p:nvPr/>
        </p:nvPicPr>
        <p:blipFill>
          <a:blip r:embed="rId3"/>
          <a:stretch>
            <a:fillRect/>
          </a:stretch>
        </p:blipFill>
        <p:spPr>
          <a:xfrm>
            <a:off x="5166360" y="3831336"/>
            <a:ext cx="292608" cy="292608"/>
          </a:xfrm>
          <a:prstGeom prst="rect">
            <a:avLst/>
          </a:prstGeom>
        </p:spPr>
      </p:pic>
      <p:sp>
        <p:nvSpPr>
          <p:cNvPr id="18" name="Text 13"/>
          <p:cNvSpPr/>
          <p:nvPr/>
        </p:nvSpPr>
        <p:spPr>
          <a:xfrm>
            <a:off x="5623560" y="3767328"/>
            <a:ext cx="5852160" cy="320040"/>
          </a:xfrm>
          <a:prstGeom prst="rect">
            <a:avLst/>
          </a:prstGeom>
          <a:noFill/>
          <a:ln/>
        </p:spPr>
        <p:txBody>
          <a:bodyPr wrap="square" rtlCol="0" anchor="ctr"/>
          <a:lstStyle/>
          <a:p>
            <a:pPr indent="0" marL="0">
              <a:buNone/>
            </a:pPr>
            <a:r>
              <a:rPr lang="en-US" sz="1500" b="1" dirty="0">
                <a:solidFill>
                  <a:srgbClr val="1C2B3A"/>
                </a:solidFill>
                <a:latin typeface="Cambria" pitchFamily="34" charset="0"/>
                <a:ea typeface="Cambria" pitchFamily="34" charset="-122"/>
                <a:cs typeface="Cambria" pitchFamily="34" charset="-120"/>
              </a:rPr>
              <a:t>On-site physiotherapy</a:t>
            </a:r>
            <a:endParaRPr lang="en-US" sz="1500" dirty="0"/>
          </a:p>
        </p:txBody>
      </p:sp>
      <p:sp>
        <p:nvSpPr>
          <p:cNvPr id="19" name="Text 14"/>
          <p:cNvSpPr/>
          <p:nvPr/>
        </p:nvSpPr>
        <p:spPr>
          <a:xfrm>
            <a:off x="5623560" y="4078224"/>
            <a:ext cx="5852160" cy="320040"/>
          </a:xfrm>
          <a:prstGeom prst="rect">
            <a:avLst/>
          </a:prstGeom>
          <a:noFill/>
          <a:ln/>
        </p:spPr>
        <p:txBody>
          <a:bodyPr wrap="square" rtlCol="0" anchor="ctr"/>
          <a:lstStyle/>
          <a:p>
            <a:pPr indent="0" marL="0">
              <a:buNone/>
            </a:pPr>
            <a:r>
              <a:rPr lang="en-US" sz="1250" dirty="0">
                <a:solidFill>
                  <a:srgbClr val="5B6B7B"/>
                </a:solidFill>
                <a:latin typeface="Calibri" pitchFamily="34" charset="0"/>
                <a:ea typeface="Calibri" pitchFamily="34" charset="-122"/>
                <a:cs typeface="Calibri" pitchFamily="34" charset="-120"/>
              </a:rPr>
              <a:t>A professional recovery station for every athlete.</a:t>
            </a:r>
            <a:endParaRPr lang="en-US" sz="1250" dirty="0"/>
          </a:p>
        </p:txBody>
      </p:sp>
      <p:pic>
        <p:nvPicPr>
          <p:cNvPr id="20" name="Image 3" descr="preencoded.png">    </p:cNvPr>
          <p:cNvPicPr>
            <a:picLocks noChangeAspect="1"/>
          </p:cNvPicPr>
          <p:nvPr/>
        </p:nvPicPr>
        <p:blipFill>
          <a:blip r:embed="rId4"/>
          <a:stretch>
            <a:fillRect/>
          </a:stretch>
        </p:blipFill>
        <p:spPr>
          <a:xfrm>
            <a:off x="5166360" y="4581144"/>
            <a:ext cx="292608" cy="292608"/>
          </a:xfrm>
          <a:prstGeom prst="rect">
            <a:avLst/>
          </a:prstGeom>
        </p:spPr>
      </p:pic>
      <p:sp>
        <p:nvSpPr>
          <p:cNvPr id="21" name="Text 15"/>
          <p:cNvSpPr/>
          <p:nvPr/>
        </p:nvSpPr>
        <p:spPr>
          <a:xfrm>
            <a:off x="5623560" y="4517136"/>
            <a:ext cx="5852160" cy="320040"/>
          </a:xfrm>
          <a:prstGeom prst="rect">
            <a:avLst/>
          </a:prstGeom>
          <a:noFill/>
          <a:ln/>
        </p:spPr>
        <p:txBody>
          <a:bodyPr wrap="square" rtlCol="0" anchor="ctr"/>
          <a:lstStyle/>
          <a:p>
            <a:pPr indent="0" marL="0">
              <a:buNone/>
            </a:pPr>
            <a:r>
              <a:rPr lang="en-US" sz="1500" b="1" dirty="0">
                <a:solidFill>
                  <a:srgbClr val="1C2B3A"/>
                </a:solidFill>
                <a:latin typeface="Cambria" pitchFamily="34" charset="0"/>
                <a:ea typeface="Cambria" pitchFamily="34" charset="-122"/>
                <a:cs typeface="Cambria" pitchFamily="34" charset="-120"/>
              </a:rPr>
              <a:t>Event logistics</a:t>
            </a:r>
            <a:endParaRPr lang="en-US" sz="1500" dirty="0"/>
          </a:p>
        </p:txBody>
      </p:sp>
      <p:sp>
        <p:nvSpPr>
          <p:cNvPr id="22" name="Text 16"/>
          <p:cNvSpPr/>
          <p:nvPr/>
        </p:nvSpPr>
        <p:spPr>
          <a:xfrm>
            <a:off x="5623560" y="4828032"/>
            <a:ext cx="5852160" cy="320040"/>
          </a:xfrm>
          <a:prstGeom prst="rect">
            <a:avLst/>
          </a:prstGeom>
          <a:noFill/>
          <a:ln/>
        </p:spPr>
        <p:txBody>
          <a:bodyPr wrap="square" rtlCol="0" anchor="ctr"/>
          <a:lstStyle/>
          <a:p>
            <a:pPr indent="0" marL="0">
              <a:buNone/>
            </a:pPr>
            <a:r>
              <a:rPr lang="en-US" sz="1250" dirty="0">
                <a:solidFill>
                  <a:srgbClr val="5B6B7B"/>
                </a:solidFill>
                <a:latin typeface="Calibri" pitchFamily="34" charset="0"/>
                <a:ea typeface="Calibri" pitchFamily="34" charset="-122"/>
                <a:cs typeface="Calibri" pitchFamily="34" charset="-120"/>
              </a:rPr>
              <a:t>Streaming, tables, awards and operations.</a:t>
            </a:r>
            <a:endParaRPr lang="en-US" sz="1250" dirty="0"/>
          </a:p>
        </p:txBody>
      </p:sp>
      <p:sp>
        <p:nvSpPr>
          <p:cNvPr id="23" name="Text 17"/>
          <p:cNvSpPr/>
          <p:nvPr/>
        </p:nvSpPr>
        <p:spPr>
          <a:xfrm>
            <a:off x="548640" y="6400800"/>
            <a:ext cx="5486400" cy="274320"/>
          </a:xfrm>
          <a:prstGeom prst="rect">
            <a:avLst/>
          </a:prstGeom>
          <a:noFill/>
          <a:ln/>
        </p:spPr>
        <p:txBody>
          <a:bodyPr wrap="square" rtlCol="0" anchor="ctr"/>
          <a:lstStyle/>
          <a:p>
            <a:pPr indent="0" marL="0">
              <a:buNone/>
            </a:pPr>
            <a:r>
              <a:rPr lang="en-US" sz="900" spc="200" kern="0" dirty="0">
                <a:solidFill>
                  <a:srgbClr val="5B6B7B"/>
                </a:solidFill>
                <a:latin typeface="Calibri" pitchFamily="34" charset="0"/>
                <a:ea typeface="Calibri" pitchFamily="34" charset="-122"/>
                <a:cs typeface="Calibri" pitchFamily="34" charset="-120"/>
              </a:rPr>
              <a:t>CALIFORNIA CUP XX</a:t>
            </a:r>
            <a:endParaRPr lang="en-US" sz="900" dirty="0"/>
          </a:p>
        </p:txBody>
      </p:sp>
      <p:sp>
        <p:nvSpPr>
          <p:cNvPr id="24" name="Text 18"/>
          <p:cNvSpPr/>
          <p:nvPr/>
        </p:nvSpPr>
        <p:spPr>
          <a:xfrm>
            <a:off x="7982712" y="6400800"/>
            <a:ext cx="3657600" cy="274320"/>
          </a:xfrm>
          <a:prstGeom prst="rect">
            <a:avLst/>
          </a:prstGeom>
          <a:noFill/>
          <a:ln/>
        </p:spPr>
        <p:txBody>
          <a:bodyPr wrap="square"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Partnership Prospectus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A"/>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rtlCol="0" anchor="ctr"/>
          <a:lstStyle/>
          <a:p>
            <a:pPr indent="0" marL="0">
              <a:buNone/>
            </a:pPr>
            <a:r>
              <a:rPr lang="en-US" sz="1200" b="1" spc="200" kern="0" dirty="0">
                <a:solidFill>
                  <a:srgbClr val="F47920"/>
                </a:solidFill>
                <a:latin typeface="Calibri" pitchFamily="34" charset="0"/>
                <a:ea typeface="Calibri" pitchFamily="34" charset="-122"/>
                <a:cs typeface="Calibri" pitchFamily="34" charset="-120"/>
              </a:rPr>
              <a:t>RECOGNITION</a:t>
            </a:r>
            <a:endParaRPr lang="en-US" sz="1200" dirty="0"/>
          </a:p>
        </p:txBody>
      </p:sp>
      <p:sp>
        <p:nvSpPr>
          <p:cNvPr id="3" name="Text 1"/>
          <p:cNvSpPr/>
          <p:nvPr/>
        </p:nvSpPr>
        <p:spPr>
          <a:xfrm>
            <a:off x="548640" y="749808"/>
            <a:ext cx="10881360" cy="731520"/>
          </a:xfrm>
          <a:prstGeom prst="rect">
            <a:avLst/>
          </a:prstGeom>
          <a:noFill/>
          <a:ln/>
        </p:spPr>
        <p:txBody>
          <a:bodyPr wrap="square" rtlCol="0" anchor="ctr"/>
          <a:lstStyle/>
          <a:p>
            <a:pPr indent="0" marL="0">
              <a:buNone/>
            </a:pPr>
            <a:r>
              <a:rPr lang="en-US" sz="3200" b="1" dirty="0">
                <a:solidFill>
                  <a:srgbClr val="102A43"/>
                </a:solidFill>
                <a:latin typeface="Cambria" pitchFamily="34" charset="0"/>
                <a:ea typeface="Cambria" pitchFamily="34" charset="-122"/>
                <a:cs typeface="Cambria" pitchFamily="34" charset="-120"/>
              </a:rPr>
              <a:t>What sponsors receive</a:t>
            </a:r>
            <a:endParaRPr lang="en-US" sz="3200" dirty="0"/>
          </a:p>
        </p:txBody>
      </p:sp>
      <p:sp>
        <p:nvSpPr>
          <p:cNvPr id="4" name="Shape 2"/>
          <p:cNvSpPr/>
          <p:nvPr/>
        </p:nvSpPr>
        <p:spPr>
          <a:xfrm>
            <a:off x="548640" y="1645920"/>
            <a:ext cx="3611880" cy="1417320"/>
          </a:xfrm>
          <a:prstGeom prst="roundRect">
            <a:avLst>
              <a:gd name="adj" fmla="val 5161"/>
            </a:avLst>
          </a:prstGeom>
          <a:solidFill>
            <a:srgbClr val="FFFFFF"/>
          </a:solidFill>
          <a:ln w="12700">
            <a:solidFill>
              <a:srgbClr val="E3E8ED"/>
            </a:solidFill>
            <a:prstDash val="solid"/>
          </a:ln>
          <a:effectLst>
            <a:outerShdw sx="100000" sy="100000" kx="0" ky="0" algn="bl" rotWithShape="0" blurRad="114300" dist="38100" dir="5400000">
              <a:srgbClr val="000000">
                <a:alpha val="16000"/>
              </a:srgbClr>
            </a:outerShdw>
          </a:effectLst>
        </p:spPr>
      </p:sp>
      <p:sp>
        <p:nvSpPr>
          <p:cNvPr id="5" name="Shape 3"/>
          <p:cNvSpPr/>
          <p:nvPr/>
        </p:nvSpPr>
        <p:spPr>
          <a:xfrm>
            <a:off x="777240" y="1901952"/>
            <a:ext cx="457200" cy="457200"/>
          </a:xfrm>
          <a:prstGeom prst="ellipse">
            <a:avLst/>
          </a:prstGeom>
          <a:solidFill>
            <a:srgbClr val="FDECE0"/>
          </a:solidFill>
          <a:ln/>
        </p:spPr>
      </p:sp>
      <p:pic>
        <p:nvPicPr>
          <p:cNvPr id="6" name="Image 0" descr="preencoded.png">    </p:cNvPr>
          <p:cNvPicPr>
            <a:picLocks noChangeAspect="1"/>
          </p:cNvPicPr>
          <p:nvPr/>
        </p:nvPicPr>
        <p:blipFill>
          <a:blip r:embed="rId1"/>
          <a:stretch>
            <a:fillRect/>
          </a:stretch>
        </p:blipFill>
        <p:spPr>
          <a:xfrm>
            <a:off x="877824" y="2002536"/>
            <a:ext cx="256032" cy="256032"/>
          </a:xfrm>
          <a:prstGeom prst="rect">
            <a:avLst/>
          </a:prstGeom>
        </p:spPr>
      </p:pic>
      <p:sp>
        <p:nvSpPr>
          <p:cNvPr id="7" name="Text 4"/>
          <p:cNvSpPr/>
          <p:nvPr/>
        </p:nvSpPr>
        <p:spPr>
          <a:xfrm>
            <a:off x="1371600" y="1901952"/>
            <a:ext cx="2651760" cy="457200"/>
          </a:xfrm>
          <a:prstGeom prst="rect">
            <a:avLst/>
          </a:prstGeom>
          <a:noFill/>
          <a:ln/>
        </p:spPr>
        <p:txBody>
          <a:bodyPr wrap="square" rtlCol="0" anchor="ctr"/>
          <a:lstStyle/>
          <a:p>
            <a:pPr indent="0" marL="0">
              <a:buNone/>
            </a:pPr>
            <a:r>
              <a:rPr lang="en-US" sz="1500" b="1" dirty="0">
                <a:solidFill>
                  <a:srgbClr val="102A43"/>
                </a:solidFill>
                <a:latin typeface="Cambria" pitchFamily="34" charset="0"/>
                <a:ea typeface="Cambria" pitchFamily="34" charset="-122"/>
                <a:cs typeface="Cambria" pitchFamily="34" charset="-120"/>
              </a:rPr>
              <a:t>Website presence</a:t>
            </a:r>
            <a:endParaRPr lang="en-US" sz="1500" dirty="0"/>
          </a:p>
        </p:txBody>
      </p:sp>
      <p:sp>
        <p:nvSpPr>
          <p:cNvPr id="8" name="Text 5"/>
          <p:cNvSpPr/>
          <p:nvPr/>
        </p:nvSpPr>
        <p:spPr>
          <a:xfrm>
            <a:off x="804672" y="2395728"/>
            <a:ext cx="3108960" cy="566928"/>
          </a:xfrm>
          <a:prstGeom prst="rect">
            <a:avLst/>
          </a:prstGeom>
          <a:noFill/>
          <a:ln/>
        </p:spPr>
        <p:txBody>
          <a:bodyPr wrap="square" rtlCol="0" anchor="t"/>
          <a:lstStyle/>
          <a:p>
            <a:pPr indent="0" marL="0">
              <a:buNone/>
            </a:pPr>
            <a:r>
              <a:rPr lang="en-US" sz="1150" dirty="0">
                <a:solidFill>
                  <a:srgbClr val="5B6B7B"/>
                </a:solidFill>
                <a:latin typeface="Calibri" pitchFamily="34" charset="0"/>
                <a:ea typeface="Calibri" pitchFamily="34" charset="-122"/>
                <a:cs typeface="Calibri" pitchFamily="34" charset="-120"/>
              </a:rPr>
              <a:t>Your logo on the tournament website, seen by every participant and visitor.</a:t>
            </a:r>
            <a:endParaRPr lang="en-US" sz="1150" dirty="0"/>
          </a:p>
        </p:txBody>
      </p:sp>
      <p:sp>
        <p:nvSpPr>
          <p:cNvPr id="9" name="Shape 6"/>
          <p:cNvSpPr/>
          <p:nvPr/>
        </p:nvSpPr>
        <p:spPr>
          <a:xfrm>
            <a:off x="4370832" y="1645920"/>
            <a:ext cx="3611880" cy="1417320"/>
          </a:xfrm>
          <a:prstGeom prst="roundRect">
            <a:avLst>
              <a:gd name="adj" fmla="val 5161"/>
            </a:avLst>
          </a:prstGeom>
          <a:solidFill>
            <a:srgbClr val="FFFFFF"/>
          </a:solidFill>
          <a:ln w="12700">
            <a:solidFill>
              <a:srgbClr val="E3E8ED"/>
            </a:solidFill>
            <a:prstDash val="solid"/>
          </a:ln>
          <a:effectLst>
            <a:outerShdw sx="100000" sy="100000" kx="0" ky="0" algn="bl" rotWithShape="0" blurRad="114300" dist="38100" dir="5400000">
              <a:srgbClr val="000000">
                <a:alpha val="16000"/>
              </a:srgbClr>
            </a:outerShdw>
          </a:effectLst>
        </p:spPr>
      </p:sp>
      <p:sp>
        <p:nvSpPr>
          <p:cNvPr id="10" name="Shape 7"/>
          <p:cNvSpPr/>
          <p:nvPr/>
        </p:nvSpPr>
        <p:spPr>
          <a:xfrm>
            <a:off x="4599432" y="1901952"/>
            <a:ext cx="457200" cy="457200"/>
          </a:xfrm>
          <a:prstGeom prst="ellipse">
            <a:avLst/>
          </a:prstGeom>
          <a:solidFill>
            <a:srgbClr val="FDECE0"/>
          </a:solidFill>
          <a:ln/>
        </p:spPr>
      </p:sp>
      <p:pic>
        <p:nvPicPr>
          <p:cNvPr id="11" name="Image 1" descr="preencoded.png">    </p:cNvPr>
          <p:cNvPicPr>
            <a:picLocks noChangeAspect="1"/>
          </p:cNvPicPr>
          <p:nvPr/>
        </p:nvPicPr>
        <p:blipFill>
          <a:blip r:embed="rId2"/>
          <a:stretch>
            <a:fillRect/>
          </a:stretch>
        </p:blipFill>
        <p:spPr>
          <a:xfrm>
            <a:off x="4700016" y="2002536"/>
            <a:ext cx="256032" cy="256032"/>
          </a:xfrm>
          <a:prstGeom prst="rect">
            <a:avLst/>
          </a:prstGeom>
        </p:spPr>
      </p:pic>
      <p:sp>
        <p:nvSpPr>
          <p:cNvPr id="12" name="Text 8"/>
          <p:cNvSpPr/>
          <p:nvPr/>
        </p:nvSpPr>
        <p:spPr>
          <a:xfrm>
            <a:off x="5193792" y="1901952"/>
            <a:ext cx="2651760" cy="457200"/>
          </a:xfrm>
          <a:prstGeom prst="rect">
            <a:avLst/>
          </a:prstGeom>
          <a:noFill/>
          <a:ln/>
        </p:spPr>
        <p:txBody>
          <a:bodyPr wrap="square" rtlCol="0" anchor="ctr"/>
          <a:lstStyle/>
          <a:p>
            <a:pPr indent="0" marL="0">
              <a:buNone/>
            </a:pPr>
            <a:r>
              <a:rPr lang="en-US" sz="1500" b="1" dirty="0">
                <a:solidFill>
                  <a:srgbClr val="102A43"/>
                </a:solidFill>
                <a:latin typeface="Cambria" pitchFamily="34" charset="0"/>
                <a:ea typeface="Cambria" pitchFamily="34" charset="-122"/>
                <a:cs typeface="Cambria" pitchFamily="34" charset="-120"/>
              </a:rPr>
              <a:t>On-stream exposure</a:t>
            </a:r>
            <a:endParaRPr lang="en-US" sz="1500" dirty="0"/>
          </a:p>
        </p:txBody>
      </p:sp>
      <p:sp>
        <p:nvSpPr>
          <p:cNvPr id="13" name="Text 9"/>
          <p:cNvSpPr/>
          <p:nvPr/>
        </p:nvSpPr>
        <p:spPr>
          <a:xfrm>
            <a:off x="4626864" y="2395728"/>
            <a:ext cx="3108960" cy="566928"/>
          </a:xfrm>
          <a:prstGeom prst="rect">
            <a:avLst/>
          </a:prstGeom>
          <a:noFill/>
          <a:ln/>
        </p:spPr>
        <p:txBody>
          <a:bodyPr wrap="square" rtlCol="0" anchor="t"/>
          <a:lstStyle/>
          <a:p>
            <a:pPr indent="0" marL="0">
              <a:buNone/>
            </a:pPr>
            <a:r>
              <a:rPr lang="en-US" sz="1150" dirty="0">
                <a:solidFill>
                  <a:srgbClr val="5B6B7B"/>
                </a:solidFill>
                <a:latin typeface="Calibri" pitchFamily="34" charset="0"/>
                <a:ea typeface="Calibri" pitchFamily="34" charset="-122"/>
                <a:cs typeface="Calibri" pitchFamily="34" charset="-120"/>
              </a:rPr>
              <a:t>Logo on the 3-day nationwide live stream and post-event highlight reels.</a:t>
            </a:r>
            <a:endParaRPr lang="en-US" sz="1150" dirty="0"/>
          </a:p>
        </p:txBody>
      </p:sp>
      <p:sp>
        <p:nvSpPr>
          <p:cNvPr id="14" name="Shape 10"/>
          <p:cNvSpPr/>
          <p:nvPr/>
        </p:nvSpPr>
        <p:spPr>
          <a:xfrm>
            <a:off x="8193024" y="1645920"/>
            <a:ext cx="3611880" cy="1417320"/>
          </a:xfrm>
          <a:prstGeom prst="roundRect">
            <a:avLst>
              <a:gd name="adj" fmla="val 5161"/>
            </a:avLst>
          </a:prstGeom>
          <a:solidFill>
            <a:srgbClr val="FFFFFF"/>
          </a:solidFill>
          <a:ln w="12700">
            <a:solidFill>
              <a:srgbClr val="E3E8ED"/>
            </a:solidFill>
            <a:prstDash val="solid"/>
          </a:ln>
          <a:effectLst>
            <a:outerShdw sx="100000" sy="100000" kx="0" ky="0" algn="bl" rotWithShape="0" blurRad="114300" dist="38100" dir="5400000">
              <a:srgbClr val="000000">
                <a:alpha val="16000"/>
              </a:srgbClr>
            </a:outerShdw>
          </a:effectLst>
        </p:spPr>
      </p:sp>
      <p:sp>
        <p:nvSpPr>
          <p:cNvPr id="15" name="Shape 11"/>
          <p:cNvSpPr/>
          <p:nvPr/>
        </p:nvSpPr>
        <p:spPr>
          <a:xfrm>
            <a:off x="8421624" y="1901952"/>
            <a:ext cx="457200" cy="457200"/>
          </a:xfrm>
          <a:prstGeom prst="ellipse">
            <a:avLst/>
          </a:prstGeom>
          <a:solidFill>
            <a:srgbClr val="FDECE0"/>
          </a:solidFill>
          <a:ln/>
        </p:spPr>
      </p:sp>
      <p:pic>
        <p:nvPicPr>
          <p:cNvPr id="16" name="Image 2" descr="preencoded.png">    </p:cNvPr>
          <p:cNvPicPr>
            <a:picLocks noChangeAspect="1"/>
          </p:cNvPicPr>
          <p:nvPr/>
        </p:nvPicPr>
        <p:blipFill>
          <a:blip r:embed="rId3"/>
          <a:stretch>
            <a:fillRect/>
          </a:stretch>
        </p:blipFill>
        <p:spPr>
          <a:xfrm>
            <a:off x="8522208" y="2002536"/>
            <a:ext cx="256032" cy="256032"/>
          </a:xfrm>
          <a:prstGeom prst="rect">
            <a:avLst/>
          </a:prstGeom>
        </p:spPr>
      </p:pic>
      <p:sp>
        <p:nvSpPr>
          <p:cNvPr id="17" name="Text 12"/>
          <p:cNvSpPr/>
          <p:nvPr/>
        </p:nvSpPr>
        <p:spPr>
          <a:xfrm>
            <a:off x="9015984" y="1901952"/>
            <a:ext cx="2651760" cy="457200"/>
          </a:xfrm>
          <a:prstGeom prst="rect">
            <a:avLst/>
          </a:prstGeom>
          <a:noFill/>
          <a:ln/>
        </p:spPr>
        <p:txBody>
          <a:bodyPr wrap="square" rtlCol="0" anchor="ctr"/>
          <a:lstStyle/>
          <a:p>
            <a:pPr indent="0" marL="0">
              <a:buNone/>
            </a:pPr>
            <a:r>
              <a:rPr lang="en-US" sz="1500" b="1" dirty="0">
                <a:solidFill>
                  <a:srgbClr val="102A43"/>
                </a:solidFill>
                <a:latin typeface="Cambria" pitchFamily="34" charset="0"/>
                <a:ea typeface="Cambria" pitchFamily="34" charset="-122"/>
                <a:cs typeface="Cambria" pitchFamily="34" charset="-120"/>
              </a:rPr>
              <a:t>Event announcements</a:t>
            </a:r>
            <a:endParaRPr lang="en-US" sz="1500" dirty="0"/>
          </a:p>
        </p:txBody>
      </p:sp>
      <p:sp>
        <p:nvSpPr>
          <p:cNvPr id="18" name="Text 13"/>
          <p:cNvSpPr/>
          <p:nvPr/>
        </p:nvSpPr>
        <p:spPr>
          <a:xfrm>
            <a:off x="8449056" y="2395728"/>
            <a:ext cx="3108960" cy="566928"/>
          </a:xfrm>
          <a:prstGeom prst="rect">
            <a:avLst/>
          </a:prstGeom>
          <a:noFill/>
          <a:ln/>
        </p:spPr>
        <p:txBody>
          <a:bodyPr wrap="square" rtlCol="0" anchor="t"/>
          <a:lstStyle/>
          <a:p>
            <a:pPr indent="0" marL="0">
              <a:buNone/>
            </a:pPr>
            <a:r>
              <a:rPr lang="en-US" sz="1150" dirty="0">
                <a:solidFill>
                  <a:srgbClr val="5B6B7B"/>
                </a:solidFill>
                <a:latin typeface="Calibri" pitchFamily="34" charset="0"/>
                <a:ea typeface="Calibri" pitchFamily="34" charset="-122"/>
                <a:cs typeface="Calibri" pitchFamily="34" charset="-120"/>
              </a:rPr>
              <a:t>Recognition in venue announcements and event communications.</a:t>
            </a:r>
            <a:endParaRPr lang="en-US" sz="1150" dirty="0"/>
          </a:p>
        </p:txBody>
      </p:sp>
      <p:sp>
        <p:nvSpPr>
          <p:cNvPr id="19" name="Shape 14"/>
          <p:cNvSpPr/>
          <p:nvPr/>
        </p:nvSpPr>
        <p:spPr>
          <a:xfrm>
            <a:off x="548640" y="3246120"/>
            <a:ext cx="3611880" cy="1417320"/>
          </a:xfrm>
          <a:prstGeom prst="roundRect">
            <a:avLst>
              <a:gd name="adj" fmla="val 5161"/>
            </a:avLst>
          </a:prstGeom>
          <a:solidFill>
            <a:srgbClr val="FFFFFF"/>
          </a:solidFill>
          <a:ln w="12700">
            <a:solidFill>
              <a:srgbClr val="E3E8ED"/>
            </a:solidFill>
            <a:prstDash val="solid"/>
          </a:ln>
          <a:effectLst>
            <a:outerShdw sx="100000" sy="100000" kx="0" ky="0" algn="bl" rotWithShape="0" blurRad="114300" dist="38100" dir="5400000">
              <a:srgbClr val="000000">
                <a:alpha val="16000"/>
              </a:srgbClr>
            </a:outerShdw>
          </a:effectLst>
        </p:spPr>
      </p:sp>
      <p:sp>
        <p:nvSpPr>
          <p:cNvPr id="20" name="Shape 15"/>
          <p:cNvSpPr/>
          <p:nvPr/>
        </p:nvSpPr>
        <p:spPr>
          <a:xfrm>
            <a:off x="777240" y="3502152"/>
            <a:ext cx="457200" cy="457200"/>
          </a:xfrm>
          <a:prstGeom prst="ellipse">
            <a:avLst/>
          </a:prstGeom>
          <a:solidFill>
            <a:srgbClr val="FDECE0"/>
          </a:solidFill>
          <a:ln/>
        </p:spPr>
      </p:sp>
      <p:pic>
        <p:nvPicPr>
          <p:cNvPr id="21" name="Image 3" descr="preencoded.png">    </p:cNvPr>
          <p:cNvPicPr>
            <a:picLocks noChangeAspect="1"/>
          </p:cNvPicPr>
          <p:nvPr/>
        </p:nvPicPr>
        <p:blipFill>
          <a:blip r:embed="rId4"/>
          <a:stretch>
            <a:fillRect/>
          </a:stretch>
        </p:blipFill>
        <p:spPr>
          <a:xfrm>
            <a:off x="877824" y="3602736"/>
            <a:ext cx="256032" cy="256032"/>
          </a:xfrm>
          <a:prstGeom prst="rect">
            <a:avLst/>
          </a:prstGeom>
        </p:spPr>
      </p:pic>
      <p:sp>
        <p:nvSpPr>
          <p:cNvPr id="22" name="Text 16"/>
          <p:cNvSpPr/>
          <p:nvPr/>
        </p:nvSpPr>
        <p:spPr>
          <a:xfrm>
            <a:off x="1371600" y="3502152"/>
            <a:ext cx="2651760" cy="457200"/>
          </a:xfrm>
          <a:prstGeom prst="rect">
            <a:avLst/>
          </a:prstGeom>
          <a:noFill/>
          <a:ln/>
        </p:spPr>
        <p:txBody>
          <a:bodyPr wrap="square" rtlCol="0" anchor="ctr"/>
          <a:lstStyle/>
          <a:p>
            <a:pPr indent="0" marL="0">
              <a:buNone/>
            </a:pPr>
            <a:r>
              <a:rPr lang="en-US" sz="1500" b="1" dirty="0">
                <a:solidFill>
                  <a:srgbClr val="102A43"/>
                </a:solidFill>
                <a:latin typeface="Cambria" pitchFamily="34" charset="0"/>
                <a:ea typeface="Cambria" pitchFamily="34" charset="-122"/>
                <a:cs typeface="Cambria" pitchFamily="34" charset="-120"/>
              </a:rPr>
              <a:t>Venue banner</a:t>
            </a:r>
            <a:endParaRPr lang="en-US" sz="1500" dirty="0"/>
          </a:p>
        </p:txBody>
      </p:sp>
      <p:sp>
        <p:nvSpPr>
          <p:cNvPr id="23" name="Text 17"/>
          <p:cNvSpPr/>
          <p:nvPr/>
        </p:nvSpPr>
        <p:spPr>
          <a:xfrm>
            <a:off x="804672" y="3995928"/>
            <a:ext cx="3108960" cy="566928"/>
          </a:xfrm>
          <a:prstGeom prst="rect">
            <a:avLst/>
          </a:prstGeom>
          <a:noFill/>
          <a:ln/>
        </p:spPr>
        <p:txBody>
          <a:bodyPr wrap="square" rtlCol="0" anchor="t"/>
          <a:lstStyle/>
          <a:p>
            <a:pPr indent="0" marL="0">
              <a:buNone/>
            </a:pPr>
            <a:r>
              <a:rPr lang="en-US" sz="1150" dirty="0">
                <a:solidFill>
                  <a:srgbClr val="5B6B7B"/>
                </a:solidFill>
                <a:latin typeface="Calibri" pitchFamily="34" charset="0"/>
                <a:ea typeface="Calibri" pitchFamily="34" charset="-122"/>
                <a:cs typeface="Calibri" pitchFamily="34" charset="-120"/>
              </a:rPr>
              <a:t>Banner display inside the gym across all three days (sponsor-provided).</a:t>
            </a:r>
            <a:endParaRPr lang="en-US" sz="1150" dirty="0"/>
          </a:p>
        </p:txBody>
      </p:sp>
      <p:sp>
        <p:nvSpPr>
          <p:cNvPr id="24" name="Shape 18"/>
          <p:cNvSpPr/>
          <p:nvPr/>
        </p:nvSpPr>
        <p:spPr>
          <a:xfrm>
            <a:off x="4370832" y="3246120"/>
            <a:ext cx="3611880" cy="1417320"/>
          </a:xfrm>
          <a:prstGeom prst="roundRect">
            <a:avLst>
              <a:gd name="adj" fmla="val 5161"/>
            </a:avLst>
          </a:prstGeom>
          <a:solidFill>
            <a:srgbClr val="FFFFFF"/>
          </a:solidFill>
          <a:ln w="12700">
            <a:solidFill>
              <a:srgbClr val="E3E8ED"/>
            </a:solidFill>
            <a:prstDash val="solid"/>
          </a:ln>
          <a:effectLst>
            <a:outerShdw sx="100000" sy="100000" kx="0" ky="0" algn="bl" rotWithShape="0" blurRad="114300" dist="38100" dir="5400000">
              <a:srgbClr val="000000">
                <a:alpha val="16000"/>
              </a:srgbClr>
            </a:outerShdw>
          </a:effectLst>
        </p:spPr>
      </p:sp>
      <p:sp>
        <p:nvSpPr>
          <p:cNvPr id="25" name="Shape 19"/>
          <p:cNvSpPr/>
          <p:nvPr/>
        </p:nvSpPr>
        <p:spPr>
          <a:xfrm>
            <a:off x="4599432" y="3502152"/>
            <a:ext cx="457200" cy="457200"/>
          </a:xfrm>
          <a:prstGeom prst="ellipse">
            <a:avLst/>
          </a:prstGeom>
          <a:solidFill>
            <a:srgbClr val="FDECE0"/>
          </a:solidFill>
          <a:ln/>
        </p:spPr>
      </p:sp>
      <p:pic>
        <p:nvPicPr>
          <p:cNvPr id="26" name="Image 4" descr="preencoded.png">    </p:cNvPr>
          <p:cNvPicPr>
            <a:picLocks noChangeAspect="1"/>
          </p:cNvPicPr>
          <p:nvPr/>
        </p:nvPicPr>
        <p:blipFill>
          <a:blip r:embed="rId5"/>
          <a:stretch>
            <a:fillRect/>
          </a:stretch>
        </p:blipFill>
        <p:spPr>
          <a:xfrm>
            <a:off x="4700016" y="3602736"/>
            <a:ext cx="256032" cy="256032"/>
          </a:xfrm>
          <a:prstGeom prst="rect">
            <a:avLst/>
          </a:prstGeom>
        </p:spPr>
      </p:pic>
      <p:sp>
        <p:nvSpPr>
          <p:cNvPr id="27" name="Text 20"/>
          <p:cNvSpPr/>
          <p:nvPr/>
        </p:nvSpPr>
        <p:spPr>
          <a:xfrm>
            <a:off x="5193792" y="3502152"/>
            <a:ext cx="2651760" cy="457200"/>
          </a:xfrm>
          <a:prstGeom prst="rect">
            <a:avLst/>
          </a:prstGeom>
          <a:noFill/>
          <a:ln/>
        </p:spPr>
        <p:txBody>
          <a:bodyPr wrap="square" rtlCol="0" anchor="ctr"/>
          <a:lstStyle/>
          <a:p>
            <a:pPr indent="0" marL="0">
              <a:buNone/>
            </a:pPr>
            <a:r>
              <a:rPr lang="en-US" sz="1500" b="1" dirty="0">
                <a:solidFill>
                  <a:srgbClr val="102A43"/>
                </a:solidFill>
                <a:latin typeface="Cambria" pitchFamily="34" charset="0"/>
                <a:ea typeface="Cambria" pitchFamily="34" charset="-122"/>
                <a:cs typeface="Cambria" pitchFamily="34" charset="-120"/>
              </a:rPr>
              <a:t>Player feature</a:t>
            </a:r>
            <a:endParaRPr lang="en-US" sz="1500" dirty="0"/>
          </a:p>
        </p:txBody>
      </p:sp>
      <p:sp>
        <p:nvSpPr>
          <p:cNvPr id="28" name="Text 21"/>
          <p:cNvSpPr/>
          <p:nvPr/>
        </p:nvSpPr>
        <p:spPr>
          <a:xfrm>
            <a:off x="4626864" y="3995928"/>
            <a:ext cx="3108960" cy="566928"/>
          </a:xfrm>
          <a:prstGeom prst="rect">
            <a:avLst/>
          </a:prstGeom>
          <a:noFill/>
          <a:ln/>
        </p:spPr>
        <p:txBody>
          <a:bodyPr wrap="square" rtlCol="0" anchor="t"/>
          <a:lstStyle/>
          <a:p>
            <a:pPr indent="0" marL="0">
              <a:buNone/>
            </a:pPr>
            <a:r>
              <a:rPr lang="en-US" sz="1150" dirty="0">
                <a:solidFill>
                  <a:srgbClr val="5B6B7B"/>
                </a:solidFill>
                <a:latin typeface="Calibri" pitchFamily="34" charset="0"/>
                <a:ea typeface="Calibri" pitchFamily="34" charset="-122"/>
                <a:cs typeface="Calibri" pitchFamily="34" charset="-120"/>
              </a:rPr>
              <a:t>Optional player photo or quote to tell your brand’s story.</a:t>
            </a:r>
            <a:endParaRPr lang="en-US" sz="1150" dirty="0"/>
          </a:p>
        </p:txBody>
      </p:sp>
      <p:sp>
        <p:nvSpPr>
          <p:cNvPr id="29" name="Shape 22"/>
          <p:cNvSpPr/>
          <p:nvPr/>
        </p:nvSpPr>
        <p:spPr>
          <a:xfrm>
            <a:off x="8193024" y="3246120"/>
            <a:ext cx="3611880" cy="1417320"/>
          </a:xfrm>
          <a:prstGeom prst="roundRect">
            <a:avLst>
              <a:gd name="adj" fmla="val 5161"/>
            </a:avLst>
          </a:prstGeom>
          <a:solidFill>
            <a:srgbClr val="FFFFFF"/>
          </a:solidFill>
          <a:ln w="12700">
            <a:solidFill>
              <a:srgbClr val="E3E8ED"/>
            </a:solidFill>
            <a:prstDash val="solid"/>
          </a:ln>
          <a:effectLst>
            <a:outerShdw sx="100000" sy="100000" kx="0" ky="0" algn="bl" rotWithShape="0" blurRad="114300" dist="38100" dir="5400000">
              <a:srgbClr val="000000">
                <a:alpha val="16000"/>
              </a:srgbClr>
            </a:outerShdw>
          </a:effectLst>
        </p:spPr>
      </p:sp>
      <p:sp>
        <p:nvSpPr>
          <p:cNvPr id="30" name="Shape 23"/>
          <p:cNvSpPr/>
          <p:nvPr/>
        </p:nvSpPr>
        <p:spPr>
          <a:xfrm>
            <a:off x="8421624" y="3502152"/>
            <a:ext cx="457200" cy="457200"/>
          </a:xfrm>
          <a:prstGeom prst="ellipse">
            <a:avLst/>
          </a:prstGeom>
          <a:solidFill>
            <a:srgbClr val="FDECE0"/>
          </a:solidFill>
          <a:ln/>
        </p:spPr>
      </p:sp>
      <p:pic>
        <p:nvPicPr>
          <p:cNvPr id="31" name="Image 5" descr="preencoded.png">    </p:cNvPr>
          <p:cNvPicPr>
            <a:picLocks noChangeAspect="1"/>
          </p:cNvPicPr>
          <p:nvPr/>
        </p:nvPicPr>
        <p:blipFill>
          <a:blip r:embed="rId6"/>
          <a:stretch>
            <a:fillRect/>
          </a:stretch>
        </p:blipFill>
        <p:spPr>
          <a:xfrm>
            <a:off x="8522208" y="3602736"/>
            <a:ext cx="256032" cy="256032"/>
          </a:xfrm>
          <a:prstGeom prst="rect">
            <a:avLst/>
          </a:prstGeom>
        </p:spPr>
      </p:pic>
      <p:sp>
        <p:nvSpPr>
          <p:cNvPr id="32" name="Text 24"/>
          <p:cNvSpPr/>
          <p:nvPr/>
        </p:nvSpPr>
        <p:spPr>
          <a:xfrm>
            <a:off x="9015984" y="3502152"/>
            <a:ext cx="2651760" cy="457200"/>
          </a:xfrm>
          <a:prstGeom prst="rect">
            <a:avLst/>
          </a:prstGeom>
          <a:noFill/>
          <a:ln/>
        </p:spPr>
        <p:txBody>
          <a:bodyPr wrap="square" rtlCol="0" anchor="ctr"/>
          <a:lstStyle/>
          <a:p>
            <a:pPr indent="0" marL="0">
              <a:buNone/>
            </a:pPr>
            <a:r>
              <a:rPr lang="en-US" sz="1500" b="1" dirty="0">
                <a:solidFill>
                  <a:srgbClr val="102A43"/>
                </a:solidFill>
                <a:latin typeface="Cambria" pitchFamily="34" charset="0"/>
                <a:ea typeface="Cambria" pitchFamily="34" charset="-122"/>
                <a:cs typeface="Cambria" pitchFamily="34" charset="-120"/>
              </a:rPr>
              <a:t>Community goodwill</a:t>
            </a:r>
            <a:endParaRPr lang="en-US" sz="1500" dirty="0"/>
          </a:p>
        </p:txBody>
      </p:sp>
      <p:sp>
        <p:nvSpPr>
          <p:cNvPr id="33" name="Text 25"/>
          <p:cNvSpPr/>
          <p:nvPr/>
        </p:nvSpPr>
        <p:spPr>
          <a:xfrm>
            <a:off x="8449056" y="3995928"/>
            <a:ext cx="3108960" cy="566928"/>
          </a:xfrm>
          <a:prstGeom prst="rect">
            <a:avLst/>
          </a:prstGeom>
          <a:noFill/>
          <a:ln/>
        </p:spPr>
        <p:txBody>
          <a:bodyPr wrap="square" rtlCol="0" anchor="t"/>
          <a:lstStyle/>
          <a:p>
            <a:pPr indent="0" marL="0">
              <a:buNone/>
            </a:pPr>
            <a:r>
              <a:rPr lang="en-US" sz="1150" dirty="0">
                <a:solidFill>
                  <a:srgbClr val="5B6B7B"/>
                </a:solidFill>
                <a:latin typeface="Calibri" pitchFamily="34" charset="0"/>
                <a:ea typeface="Calibri" pitchFamily="34" charset="-122"/>
                <a:cs typeface="Calibri" pitchFamily="34" charset="-120"/>
              </a:rPr>
              <a:t>Association with a trusted, volunteer-run nonprofit growing the sport.</a:t>
            </a:r>
            <a:endParaRPr lang="en-US" sz="1150" dirty="0"/>
          </a:p>
        </p:txBody>
      </p:sp>
      <p:sp>
        <p:nvSpPr>
          <p:cNvPr id="34" name="Text 26"/>
          <p:cNvSpPr/>
          <p:nvPr/>
        </p:nvSpPr>
        <p:spPr>
          <a:xfrm>
            <a:off x="548640" y="6400800"/>
            <a:ext cx="5486400" cy="274320"/>
          </a:xfrm>
          <a:prstGeom prst="rect">
            <a:avLst/>
          </a:prstGeom>
          <a:noFill/>
          <a:ln/>
        </p:spPr>
        <p:txBody>
          <a:bodyPr wrap="square" rtlCol="0" anchor="ctr"/>
          <a:lstStyle/>
          <a:p>
            <a:pPr indent="0" marL="0">
              <a:buNone/>
            </a:pPr>
            <a:r>
              <a:rPr lang="en-US" sz="900" spc="200" kern="0" dirty="0">
                <a:solidFill>
                  <a:srgbClr val="5B6B7B"/>
                </a:solidFill>
                <a:latin typeface="Calibri" pitchFamily="34" charset="0"/>
                <a:ea typeface="Calibri" pitchFamily="34" charset="-122"/>
                <a:cs typeface="Calibri" pitchFamily="34" charset="-120"/>
              </a:rPr>
              <a:t>CALIFORNIA CUP XX</a:t>
            </a:r>
            <a:endParaRPr lang="en-US" sz="900" dirty="0"/>
          </a:p>
        </p:txBody>
      </p:sp>
      <p:sp>
        <p:nvSpPr>
          <p:cNvPr id="35" name="Text 27"/>
          <p:cNvSpPr/>
          <p:nvPr/>
        </p:nvSpPr>
        <p:spPr>
          <a:xfrm>
            <a:off x="7982712" y="6400800"/>
            <a:ext cx="3657600" cy="274320"/>
          </a:xfrm>
          <a:prstGeom prst="rect">
            <a:avLst/>
          </a:prstGeom>
          <a:noFill/>
          <a:ln/>
        </p:spPr>
        <p:txBody>
          <a:bodyPr wrap="square"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Partnership Prospectus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A"/>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rtlCol="0" anchor="ctr"/>
          <a:lstStyle/>
          <a:p>
            <a:pPr indent="0" marL="0">
              <a:buNone/>
            </a:pPr>
            <a:r>
              <a:rPr lang="en-US" sz="1200" b="1" spc="200" kern="0" dirty="0">
                <a:solidFill>
                  <a:srgbClr val="F47920"/>
                </a:solidFill>
                <a:latin typeface="Calibri" pitchFamily="34" charset="0"/>
                <a:ea typeface="Calibri" pitchFamily="34" charset="-122"/>
                <a:cs typeface="Calibri" pitchFamily="34" charset="-120"/>
              </a:rPr>
              <a:t>OUR HOST</a:t>
            </a:r>
            <a:endParaRPr lang="en-US" sz="1200" dirty="0"/>
          </a:p>
        </p:txBody>
      </p:sp>
      <p:sp>
        <p:nvSpPr>
          <p:cNvPr id="3" name="Text 1"/>
          <p:cNvSpPr/>
          <p:nvPr/>
        </p:nvSpPr>
        <p:spPr>
          <a:xfrm>
            <a:off x="548640" y="749808"/>
            <a:ext cx="10881360" cy="731520"/>
          </a:xfrm>
          <a:prstGeom prst="rect">
            <a:avLst/>
          </a:prstGeom>
          <a:noFill/>
          <a:ln/>
        </p:spPr>
        <p:txBody>
          <a:bodyPr wrap="square" rtlCol="0" anchor="ctr"/>
          <a:lstStyle/>
          <a:p>
            <a:pPr indent="0" marL="0">
              <a:buNone/>
            </a:pPr>
            <a:r>
              <a:rPr lang="en-US" sz="3200" b="1" dirty="0">
                <a:solidFill>
                  <a:srgbClr val="102A43"/>
                </a:solidFill>
                <a:latin typeface="Cambria" pitchFamily="34" charset="0"/>
                <a:ea typeface="Cambria" pitchFamily="34" charset="-122"/>
                <a:cs typeface="Cambria" pitchFamily="34" charset="-120"/>
              </a:rPr>
              <a:t>San Francisco CalHeat</a:t>
            </a:r>
            <a:endParaRPr lang="en-US" sz="3200" dirty="0"/>
          </a:p>
        </p:txBody>
      </p:sp>
      <p:pic>
        <p:nvPicPr>
          <p:cNvPr id="4" name="Image 0" descr="/tmp/p9.jpg">    </p:cNvPr>
          <p:cNvPicPr>
            <a:picLocks noChangeAspect="1"/>
          </p:cNvPicPr>
          <p:nvPr/>
        </p:nvPicPr>
        <p:blipFill>
          <a:blip r:embed="rId1"/>
          <a:srcRect l="0" r="0" t="0" b="0"/>
          <a:stretch/>
        </p:blipFill>
        <p:spPr>
          <a:xfrm>
            <a:off x="7223760" y="1554480"/>
            <a:ext cx="4389120" cy="3840480"/>
          </a:xfrm>
          <a:prstGeom prst="rect">
            <a:avLst/>
          </a:prstGeom>
        </p:spPr>
      </p:pic>
      <p:sp>
        <p:nvSpPr>
          <p:cNvPr id="5" name="Text 2"/>
          <p:cNvSpPr/>
          <p:nvPr/>
        </p:nvSpPr>
        <p:spPr>
          <a:xfrm>
            <a:off x="548640" y="1554480"/>
            <a:ext cx="6309360" cy="1828800"/>
          </a:xfrm>
          <a:prstGeom prst="rect">
            <a:avLst/>
          </a:prstGeom>
          <a:noFill/>
          <a:ln/>
        </p:spPr>
        <p:txBody>
          <a:bodyPr wrap="square" rtlCol="0" anchor="t"/>
          <a:lstStyle/>
          <a:p>
            <a:pPr indent="0" marL="0">
              <a:lnSpc>
                <a:spcPct val="115000"/>
              </a:lnSpc>
              <a:buNone/>
            </a:pPr>
            <a:r>
              <a:rPr lang="en-US" sz="1450" dirty="0">
                <a:solidFill>
                  <a:srgbClr val="1C2B3A"/>
                </a:solidFill>
                <a:latin typeface="Calibri" pitchFamily="34" charset="0"/>
                <a:ea typeface="Calibri" pitchFamily="34" charset="-122"/>
                <a:cs typeface="Calibri" pitchFamily="34" charset="-120"/>
              </a:rPr>
              <a:t>A Bay Area handball club and 501(c)(3) nonprofit since 2012. Each year around 200 athletes from across the U.S. and Canada compete in elite men’s and women’s divisions — many starting in CalHeat’s grassroots youth programs, some now chasing the Olympic dream for LA 2028.</a:t>
            </a:r>
            <a:endParaRPr lang="en-US" sz="1450" dirty="0"/>
          </a:p>
        </p:txBody>
      </p:sp>
      <p:sp>
        <p:nvSpPr>
          <p:cNvPr id="6" name="Shape 3"/>
          <p:cNvSpPr/>
          <p:nvPr/>
        </p:nvSpPr>
        <p:spPr>
          <a:xfrm>
            <a:off x="548640" y="3566160"/>
            <a:ext cx="1051560" cy="457200"/>
          </a:xfrm>
          <a:prstGeom prst="roundRect">
            <a:avLst>
              <a:gd name="adj" fmla="val 12000"/>
            </a:avLst>
          </a:prstGeom>
          <a:solidFill>
            <a:srgbClr val="102A43"/>
          </a:solidFill>
          <a:ln/>
        </p:spPr>
      </p:sp>
      <p:sp>
        <p:nvSpPr>
          <p:cNvPr id="7" name="Text 4"/>
          <p:cNvSpPr/>
          <p:nvPr/>
        </p:nvSpPr>
        <p:spPr>
          <a:xfrm>
            <a:off x="548640" y="3566160"/>
            <a:ext cx="1051560"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2007</a:t>
            </a:r>
            <a:endParaRPr lang="en-US" sz="1500" dirty="0"/>
          </a:p>
        </p:txBody>
      </p:sp>
      <p:sp>
        <p:nvSpPr>
          <p:cNvPr id="8" name="Text 5"/>
          <p:cNvSpPr/>
          <p:nvPr/>
        </p:nvSpPr>
        <p:spPr>
          <a:xfrm>
            <a:off x="1783080" y="3566160"/>
            <a:ext cx="4937760" cy="457200"/>
          </a:xfrm>
          <a:prstGeom prst="rect">
            <a:avLst/>
          </a:prstGeom>
          <a:noFill/>
          <a:ln/>
        </p:spPr>
        <p:txBody>
          <a:bodyPr wrap="square" rtlCol="0" anchor="ctr"/>
          <a:lstStyle/>
          <a:p>
            <a:pPr indent="0" marL="0">
              <a:buNone/>
            </a:pPr>
            <a:r>
              <a:rPr lang="en-US" sz="1250" dirty="0">
                <a:solidFill>
                  <a:srgbClr val="1C2B3A"/>
                </a:solidFill>
                <a:latin typeface="Calibri" pitchFamily="34" charset="0"/>
                <a:ea typeface="Calibri" pitchFamily="34" charset="-122"/>
                <a:cs typeface="Calibri" pitchFamily="34" charset="-120"/>
              </a:rPr>
              <a:t>First California Cup hosted by CalHeat</a:t>
            </a:r>
            <a:endParaRPr lang="en-US" sz="1250" dirty="0"/>
          </a:p>
        </p:txBody>
      </p:sp>
      <p:sp>
        <p:nvSpPr>
          <p:cNvPr id="9" name="Shape 6"/>
          <p:cNvSpPr/>
          <p:nvPr/>
        </p:nvSpPr>
        <p:spPr>
          <a:xfrm>
            <a:off x="548640" y="4133088"/>
            <a:ext cx="1051560" cy="457200"/>
          </a:xfrm>
          <a:prstGeom prst="roundRect">
            <a:avLst>
              <a:gd name="adj" fmla="val 12000"/>
            </a:avLst>
          </a:prstGeom>
          <a:solidFill>
            <a:srgbClr val="102A43"/>
          </a:solidFill>
          <a:ln/>
        </p:spPr>
      </p:sp>
      <p:sp>
        <p:nvSpPr>
          <p:cNvPr id="10" name="Text 7"/>
          <p:cNvSpPr/>
          <p:nvPr/>
        </p:nvSpPr>
        <p:spPr>
          <a:xfrm>
            <a:off x="548640" y="4133088"/>
            <a:ext cx="1051560"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2012</a:t>
            </a:r>
            <a:endParaRPr lang="en-US" sz="1500" dirty="0"/>
          </a:p>
        </p:txBody>
      </p:sp>
      <p:sp>
        <p:nvSpPr>
          <p:cNvPr id="11" name="Text 8"/>
          <p:cNvSpPr/>
          <p:nvPr/>
        </p:nvSpPr>
        <p:spPr>
          <a:xfrm>
            <a:off x="1783080" y="4133088"/>
            <a:ext cx="4937760" cy="457200"/>
          </a:xfrm>
          <a:prstGeom prst="rect">
            <a:avLst/>
          </a:prstGeom>
          <a:noFill/>
          <a:ln/>
        </p:spPr>
        <p:txBody>
          <a:bodyPr wrap="square" rtlCol="0" anchor="ctr"/>
          <a:lstStyle/>
          <a:p>
            <a:pPr indent="0" marL="0">
              <a:buNone/>
            </a:pPr>
            <a:r>
              <a:rPr lang="en-US" sz="1250" dirty="0">
                <a:solidFill>
                  <a:srgbClr val="1C2B3A"/>
                </a:solidFill>
                <a:latin typeface="Calibri" pitchFamily="34" charset="0"/>
                <a:ea typeface="Calibri" pitchFamily="34" charset="-122"/>
                <a:cs typeface="Calibri" pitchFamily="34" charset="-120"/>
              </a:rPr>
              <a:t>CalHeat becomes a 501(c)(3) nonprofit</a:t>
            </a:r>
            <a:endParaRPr lang="en-US" sz="1250" dirty="0"/>
          </a:p>
        </p:txBody>
      </p:sp>
      <p:sp>
        <p:nvSpPr>
          <p:cNvPr id="12" name="Shape 9"/>
          <p:cNvSpPr/>
          <p:nvPr/>
        </p:nvSpPr>
        <p:spPr>
          <a:xfrm>
            <a:off x="548640" y="4700016"/>
            <a:ext cx="1051560" cy="457200"/>
          </a:xfrm>
          <a:prstGeom prst="roundRect">
            <a:avLst>
              <a:gd name="adj" fmla="val 12000"/>
            </a:avLst>
          </a:prstGeom>
          <a:solidFill>
            <a:srgbClr val="102A43"/>
          </a:solidFill>
          <a:ln/>
        </p:spPr>
      </p:sp>
      <p:sp>
        <p:nvSpPr>
          <p:cNvPr id="13" name="Text 10"/>
          <p:cNvSpPr/>
          <p:nvPr/>
        </p:nvSpPr>
        <p:spPr>
          <a:xfrm>
            <a:off x="548640" y="4700016"/>
            <a:ext cx="1051560"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2026</a:t>
            </a:r>
            <a:endParaRPr lang="en-US" sz="1500" dirty="0"/>
          </a:p>
        </p:txBody>
      </p:sp>
      <p:sp>
        <p:nvSpPr>
          <p:cNvPr id="14" name="Text 11"/>
          <p:cNvSpPr/>
          <p:nvPr/>
        </p:nvSpPr>
        <p:spPr>
          <a:xfrm>
            <a:off x="1783080" y="4700016"/>
            <a:ext cx="4937760" cy="457200"/>
          </a:xfrm>
          <a:prstGeom prst="rect">
            <a:avLst/>
          </a:prstGeom>
          <a:noFill/>
          <a:ln/>
        </p:spPr>
        <p:txBody>
          <a:bodyPr wrap="square" rtlCol="0" anchor="ctr"/>
          <a:lstStyle/>
          <a:p>
            <a:pPr indent="0" marL="0">
              <a:buNone/>
            </a:pPr>
            <a:r>
              <a:rPr lang="en-US" sz="1250" dirty="0">
                <a:solidFill>
                  <a:srgbClr val="1C2B3A"/>
                </a:solidFill>
                <a:latin typeface="Calibri" pitchFamily="34" charset="0"/>
                <a:ea typeface="Calibri" pitchFamily="34" charset="-122"/>
                <a:cs typeface="Calibri" pitchFamily="34" charset="-120"/>
              </a:rPr>
              <a:t>19th edition — ~200 athletes</a:t>
            </a:r>
            <a:endParaRPr lang="en-US" sz="1250" dirty="0"/>
          </a:p>
        </p:txBody>
      </p:sp>
      <p:sp>
        <p:nvSpPr>
          <p:cNvPr id="15" name="Shape 12"/>
          <p:cNvSpPr/>
          <p:nvPr/>
        </p:nvSpPr>
        <p:spPr>
          <a:xfrm>
            <a:off x="548640" y="5266944"/>
            <a:ext cx="1051560" cy="457200"/>
          </a:xfrm>
          <a:prstGeom prst="roundRect">
            <a:avLst>
              <a:gd name="adj" fmla="val 12000"/>
            </a:avLst>
          </a:prstGeom>
          <a:solidFill>
            <a:srgbClr val="102A43"/>
          </a:solidFill>
          <a:ln/>
        </p:spPr>
      </p:sp>
      <p:sp>
        <p:nvSpPr>
          <p:cNvPr id="16" name="Text 13"/>
          <p:cNvSpPr/>
          <p:nvPr/>
        </p:nvSpPr>
        <p:spPr>
          <a:xfrm>
            <a:off x="548640" y="5266944"/>
            <a:ext cx="1051560"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2027</a:t>
            </a:r>
            <a:endParaRPr lang="en-US" sz="1500" dirty="0"/>
          </a:p>
        </p:txBody>
      </p:sp>
      <p:sp>
        <p:nvSpPr>
          <p:cNvPr id="17" name="Text 14"/>
          <p:cNvSpPr/>
          <p:nvPr/>
        </p:nvSpPr>
        <p:spPr>
          <a:xfrm>
            <a:off x="1783080" y="5266944"/>
            <a:ext cx="4937760" cy="457200"/>
          </a:xfrm>
          <a:prstGeom prst="rect">
            <a:avLst/>
          </a:prstGeom>
          <a:noFill/>
          <a:ln/>
        </p:spPr>
        <p:txBody>
          <a:bodyPr wrap="square" rtlCol="0" anchor="ctr"/>
          <a:lstStyle/>
          <a:p>
            <a:pPr indent="0" marL="0">
              <a:buNone/>
            </a:pPr>
            <a:r>
              <a:rPr lang="en-US" sz="1250" dirty="0">
                <a:solidFill>
                  <a:srgbClr val="1C2B3A"/>
                </a:solidFill>
                <a:latin typeface="Calibri" pitchFamily="34" charset="0"/>
                <a:ea typeface="Calibri" pitchFamily="34" charset="-122"/>
                <a:cs typeface="Calibri" pitchFamily="34" charset="-120"/>
              </a:rPr>
              <a:t>20th edition — two decades of elite handball</a:t>
            </a:r>
            <a:endParaRPr lang="en-US" sz="1250" dirty="0"/>
          </a:p>
        </p:txBody>
      </p:sp>
      <p:sp>
        <p:nvSpPr>
          <p:cNvPr id="18" name="Text 15"/>
          <p:cNvSpPr/>
          <p:nvPr/>
        </p:nvSpPr>
        <p:spPr>
          <a:xfrm>
            <a:off x="548640" y="6400800"/>
            <a:ext cx="5486400" cy="274320"/>
          </a:xfrm>
          <a:prstGeom prst="rect">
            <a:avLst/>
          </a:prstGeom>
          <a:noFill/>
          <a:ln/>
        </p:spPr>
        <p:txBody>
          <a:bodyPr wrap="square" rtlCol="0" anchor="ctr"/>
          <a:lstStyle/>
          <a:p>
            <a:pPr indent="0" marL="0">
              <a:buNone/>
            </a:pPr>
            <a:r>
              <a:rPr lang="en-US" sz="900" spc="200" kern="0" dirty="0">
                <a:solidFill>
                  <a:srgbClr val="5B6B7B"/>
                </a:solidFill>
                <a:latin typeface="Calibri" pitchFamily="34" charset="0"/>
                <a:ea typeface="Calibri" pitchFamily="34" charset="-122"/>
                <a:cs typeface="Calibri" pitchFamily="34" charset="-120"/>
              </a:rPr>
              <a:t>CALIFORNIA CUP XX</a:t>
            </a:r>
            <a:endParaRPr lang="en-US" sz="900" dirty="0"/>
          </a:p>
        </p:txBody>
      </p:sp>
      <p:sp>
        <p:nvSpPr>
          <p:cNvPr id="19" name="Text 16"/>
          <p:cNvSpPr/>
          <p:nvPr/>
        </p:nvSpPr>
        <p:spPr>
          <a:xfrm>
            <a:off x="7982712" y="6400800"/>
            <a:ext cx="3657600" cy="274320"/>
          </a:xfrm>
          <a:prstGeom prst="rect">
            <a:avLst/>
          </a:prstGeom>
          <a:noFill/>
          <a:ln/>
        </p:spPr>
        <p:txBody>
          <a:bodyPr wrap="square"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Partnership Prospectus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02A43"/>
        </a:solidFill>
      </p:bgPr>
    </p:bg>
    <p:spTree>
      <p:nvGrpSpPr>
        <p:cNvPr id="1" name=""/>
        <p:cNvGrpSpPr/>
        <p:nvPr/>
      </p:nvGrpSpPr>
      <p:grpSpPr>
        <a:xfrm>
          <a:off x="0" y="0"/>
          <a:ext cx="0" cy="0"/>
          <a:chOff x="0" y="0"/>
          <a:chExt cx="0" cy="0"/>
        </a:xfrm>
      </p:grpSpPr>
      <p:pic>
        <p:nvPicPr>
          <p:cNvPr id="2" name="Image 0" descr="/tmp/wm_dark.png">    </p:cNvPr>
          <p:cNvPicPr>
            <a:picLocks noChangeAspect="1"/>
          </p:cNvPicPr>
          <p:nvPr/>
        </p:nvPicPr>
        <p:blipFill>
          <a:blip r:embed="rId1"/>
          <a:stretch>
            <a:fillRect/>
          </a:stretch>
        </p:blipFill>
        <p:spPr>
          <a:xfrm>
            <a:off x="548640" y="822960"/>
            <a:ext cx="6217920" cy="1435608"/>
          </a:xfrm>
          <a:prstGeom prst="rect">
            <a:avLst/>
          </a:prstGeom>
        </p:spPr>
      </p:pic>
      <p:sp>
        <p:nvSpPr>
          <p:cNvPr id="3" name="Text 0"/>
          <p:cNvSpPr/>
          <p:nvPr/>
        </p:nvSpPr>
        <p:spPr>
          <a:xfrm>
            <a:off x="548640" y="2468880"/>
            <a:ext cx="10058400" cy="64008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Become a 2027 partner</a:t>
            </a:r>
            <a:endParaRPr lang="en-US" sz="3400" dirty="0"/>
          </a:p>
        </p:txBody>
      </p:sp>
      <p:sp>
        <p:nvSpPr>
          <p:cNvPr id="4" name="Text 1"/>
          <p:cNvSpPr/>
          <p:nvPr/>
        </p:nvSpPr>
        <p:spPr>
          <a:xfrm>
            <a:off x="548640" y="3200400"/>
            <a:ext cx="7498080" cy="914400"/>
          </a:xfrm>
          <a:prstGeom prst="rect">
            <a:avLst/>
          </a:prstGeom>
          <a:noFill/>
          <a:ln/>
        </p:spPr>
        <p:txBody>
          <a:bodyPr wrap="square" rtlCol="0" anchor="ctr"/>
          <a:lstStyle/>
          <a:p>
            <a:pPr indent="0" marL="0">
              <a:lnSpc>
                <a:spcPct val="115000"/>
              </a:lnSpc>
              <a:buNone/>
            </a:pPr>
            <a:r>
              <a:rPr lang="en-US" sz="1600" dirty="0">
                <a:solidFill>
                  <a:srgbClr val="CFE0F0"/>
                </a:solidFill>
                <a:latin typeface="Calibri" pitchFamily="34" charset="0"/>
                <a:ea typeface="Calibri" pitchFamily="34" charset="-122"/>
                <a:cs typeface="Calibri" pitchFamily="34" charset="-120"/>
              </a:rPr>
              <a:t>Join us in delivering a world-class event and growing handball in America. We’ll tailor recognition to fit your brand.</a:t>
            </a:r>
            <a:endParaRPr lang="en-US" sz="1600" dirty="0"/>
          </a:p>
        </p:txBody>
      </p:sp>
      <p:pic>
        <p:nvPicPr>
          <p:cNvPr id="5" name="Image 1" descr="preencoded.png">    </p:cNvPr>
          <p:cNvPicPr>
            <a:picLocks noChangeAspect="1"/>
          </p:cNvPicPr>
          <p:nvPr/>
        </p:nvPicPr>
        <p:blipFill>
          <a:blip r:embed="rId2"/>
          <a:stretch>
            <a:fillRect/>
          </a:stretch>
        </p:blipFill>
        <p:spPr>
          <a:xfrm>
            <a:off x="566928" y="4297680"/>
            <a:ext cx="274320" cy="274320"/>
          </a:xfrm>
          <a:prstGeom prst="rect">
            <a:avLst/>
          </a:prstGeom>
        </p:spPr>
      </p:pic>
      <p:sp>
        <p:nvSpPr>
          <p:cNvPr id="6" name="Text 2"/>
          <p:cNvSpPr/>
          <p:nvPr/>
        </p:nvSpPr>
        <p:spPr>
          <a:xfrm>
            <a:off x="960120" y="4224528"/>
            <a:ext cx="6400800" cy="8229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calcup@calheat.com</a:t>
            </a:r>
            <a:endParaRPr lang="en-US" sz="1600" dirty="0"/>
          </a:p>
          <a:p>
            <a:pPr indent="0" marL="0">
              <a:buNone/>
            </a:pPr>
            <a:r>
              <a:rPr lang="en-US" sz="1600" dirty="0">
                <a:solidFill>
                  <a:srgbClr val="FFFFFF"/>
                </a:solidFill>
                <a:latin typeface="Calibri" pitchFamily="34" charset="0"/>
                <a:ea typeface="Calibri" pitchFamily="34" charset="-122"/>
                <a:cs typeface="Calibri" pitchFamily="34" charset="-120"/>
              </a:rPr>
              <a:t>calheat.com   ·   calcup-2027.netlify.app</a:t>
            </a:r>
            <a:endParaRPr lang="en-US" sz="1600" dirty="0"/>
          </a:p>
        </p:txBody>
      </p:sp>
      <p:sp>
        <p:nvSpPr>
          <p:cNvPr id="7" name="Shape 3"/>
          <p:cNvSpPr/>
          <p:nvPr/>
        </p:nvSpPr>
        <p:spPr>
          <a:xfrm>
            <a:off x="9281160" y="3977640"/>
            <a:ext cx="1965960" cy="1965960"/>
          </a:xfrm>
          <a:prstGeom prst="roundRect">
            <a:avLst>
              <a:gd name="adj" fmla="val 3721"/>
            </a:avLst>
          </a:prstGeom>
          <a:solidFill>
            <a:srgbClr val="FFFFFF"/>
          </a:solidFill>
          <a:ln/>
        </p:spPr>
      </p:sp>
      <p:pic>
        <p:nvPicPr>
          <p:cNvPr id="8" name="Image 2" descr="/tmp/qr.png">    </p:cNvPr>
          <p:cNvPicPr>
            <a:picLocks noChangeAspect="1"/>
          </p:cNvPicPr>
          <p:nvPr/>
        </p:nvPicPr>
        <p:blipFill>
          <a:blip r:embed="rId3"/>
          <a:stretch>
            <a:fillRect/>
          </a:stretch>
        </p:blipFill>
        <p:spPr>
          <a:xfrm>
            <a:off x="9464040" y="4160520"/>
            <a:ext cx="1600200" cy="1600200"/>
          </a:xfrm>
          <a:prstGeom prst="rect">
            <a:avLst/>
          </a:prstGeom>
        </p:spPr>
      </p:pic>
      <p:sp>
        <p:nvSpPr>
          <p:cNvPr id="9" name="Text 4"/>
          <p:cNvSpPr/>
          <p:nvPr/>
        </p:nvSpPr>
        <p:spPr>
          <a:xfrm>
            <a:off x="9189720" y="5989320"/>
            <a:ext cx="2148840" cy="274320"/>
          </a:xfrm>
          <a:prstGeom prst="rect">
            <a:avLst/>
          </a:prstGeom>
          <a:noFill/>
          <a:ln/>
        </p:spPr>
        <p:txBody>
          <a:bodyPr wrap="square" rtlCol="0" anchor="ctr"/>
          <a:lstStyle/>
          <a:p>
            <a:pPr algn="ctr" indent="0" marL="0">
              <a:buNone/>
            </a:pPr>
            <a:r>
              <a:rPr lang="en-US" sz="1050" dirty="0">
                <a:solidFill>
                  <a:srgbClr val="CFE0F0"/>
                </a:solidFill>
                <a:latin typeface="Calibri" pitchFamily="34" charset="0"/>
                <a:ea typeface="Calibri" pitchFamily="34" charset="-122"/>
                <a:cs typeface="Calibri" pitchFamily="34" charset="-120"/>
              </a:rPr>
              <a:t>Scan for the live site</a:t>
            </a:r>
            <a:endParaRPr lang="en-US" sz="1050" dirty="0"/>
          </a:p>
        </p:txBody>
      </p:sp>
      <p:pic>
        <p:nvPicPr>
          <p:cNvPr id="10" name="Image 3" descr="/tmp/calheat.png">    </p:cNvPr>
          <p:cNvPicPr>
            <a:picLocks noChangeAspect="1"/>
          </p:cNvPicPr>
          <p:nvPr/>
        </p:nvPicPr>
        <p:blipFill>
          <a:blip r:embed="rId4"/>
          <a:stretch>
            <a:fillRect/>
          </a:stretch>
        </p:blipFill>
        <p:spPr>
          <a:xfrm>
            <a:off x="548640" y="5623560"/>
            <a:ext cx="914400" cy="9144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CalCup 2027 — Partnership Opportunities</dc:title>
  <dc:subject>PptxGenJS Presentation</dc:subject>
  <dc:creator>San Francisco CalHeat</dc:creator>
  <cp:lastModifiedBy>San Francisco CalHeat</cp:lastModifiedBy>
  <cp:revision>1</cp:revision>
  <dcterms:created xsi:type="dcterms:W3CDTF">2026-07-01T21:33:50Z</dcterms:created>
  <dcterms:modified xsi:type="dcterms:W3CDTF">2026-07-01T21:33:50Z</dcterms:modified>
</cp:coreProperties>
</file>